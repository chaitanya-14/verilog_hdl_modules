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052560" y="-2011680"/>
            <a:ext cx="5486400" cy="5486400"/>
          </a:xfrm>
          <a:prstGeom prst="ellipse">
            <a:avLst/>
          </a:prstGeom>
          <a:solidFill>
            <a:srgbClr val="065A82">
              <a:alpha val="45000"/>
            </a:srgbClr>
          </a:solidFill>
          <a:ln/>
        </p:spPr>
      </p:sp>
      <p:sp>
        <p:nvSpPr>
          <p:cNvPr id="3" name="Shape 1"/>
          <p:cNvSpPr/>
          <p:nvPr/>
        </p:nvSpPr>
        <p:spPr>
          <a:xfrm>
            <a:off x="10241280" y="3291840"/>
            <a:ext cx="4572000" cy="4572000"/>
          </a:xfrm>
          <a:prstGeom prst="ellipse">
            <a:avLst/>
          </a:prstGeom>
          <a:solidFill>
            <a:srgbClr val="1C7293">
              <a:alpha val="40000"/>
            </a:srgbClr>
          </a:solidFill>
          <a:ln/>
        </p:spPr>
      </p:sp>
      <p:sp>
        <p:nvSpPr>
          <p:cNvPr id="4" name="Text 2"/>
          <p:cNvSpPr/>
          <p:nvPr/>
        </p:nvSpPr>
        <p:spPr>
          <a:xfrm>
            <a:off x="822960" y="1371600"/>
            <a:ext cx="8229600" cy="365760"/>
          </a:xfrm>
          <a:prstGeom prst="rect">
            <a:avLst/>
          </a:prstGeom>
          <a:noFill/>
          <a:ln/>
        </p:spPr>
        <p:txBody>
          <a:bodyPr wrap="square" lIns="0" tIns="0" rIns="0" bIns="0" rtlCol="0" anchor="ctr"/>
          <a:lstStyle/>
          <a:p>
            <a:pPr indent="0" marL="0">
              <a:buNone/>
            </a:pPr>
            <a:r>
              <a:rPr lang="en-US" sz="1400" b="1" spc="300" kern="0" dirty="0">
                <a:solidFill>
                  <a:srgbClr val="02C39A"/>
                </a:solidFill>
                <a:latin typeface="Calibri" pitchFamily="34" charset="0"/>
                <a:ea typeface="Calibri" pitchFamily="34" charset="-122"/>
                <a:cs typeface="Calibri" pitchFamily="34" charset="-120"/>
              </a:rPr>
              <a:t>VERILOG HDL  •  RTL DESIGN &amp; VERIFICATION</a:t>
            </a:r>
            <a:endParaRPr lang="en-US" sz="1400" dirty="0"/>
          </a:p>
        </p:txBody>
      </p:sp>
      <p:sp>
        <p:nvSpPr>
          <p:cNvPr id="5" name="Text 3"/>
          <p:cNvSpPr/>
          <p:nvPr/>
        </p:nvSpPr>
        <p:spPr>
          <a:xfrm>
            <a:off x="777240" y="1828800"/>
            <a:ext cx="100584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1 × 3 Packet Router</a:t>
            </a:r>
            <a:endParaRPr lang="en-US" sz="5400" dirty="0"/>
          </a:p>
        </p:txBody>
      </p:sp>
      <p:sp>
        <p:nvSpPr>
          <p:cNvPr id="6" name="Text 4"/>
          <p:cNvSpPr/>
          <p:nvPr/>
        </p:nvSpPr>
        <p:spPr>
          <a:xfrm>
            <a:off x="822960" y="3108960"/>
            <a:ext cx="7863840" cy="914400"/>
          </a:xfrm>
          <a:prstGeom prst="rect">
            <a:avLst/>
          </a:prstGeom>
          <a:noFill/>
          <a:ln/>
        </p:spPr>
        <p:txBody>
          <a:bodyPr wrap="square" lIns="0" tIns="0" rIns="0" bIns="0" rtlCol="0" anchor="ctr"/>
          <a:lstStyle/>
          <a:p>
            <a:pPr indent="0" marL="0">
              <a:lnSpc>
                <a:spcPct val="110000"/>
              </a:lnSpc>
              <a:buNone/>
            </a:pPr>
            <a:r>
              <a:rPr lang="en-US" sz="1800" dirty="0">
                <a:solidFill>
                  <a:srgbClr val="CBD6E2"/>
                </a:solidFill>
                <a:latin typeface="Calibri" pitchFamily="34" charset="0"/>
                <a:ea typeface="Calibri" pitchFamily="34" charset="-122"/>
                <a:cs typeface="Calibri" pitchFamily="34" charset="-120"/>
              </a:rPr>
              <a:t>A synchronous router that steers byte-stream packets from one input to three output channels — designed and verified from scratch in Verilog.</a:t>
            </a:r>
            <a:endParaRPr lang="en-US" sz="1800" dirty="0"/>
          </a:p>
        </p:txBody>
      </p:sp>
      <p:sp>
        <p:nvSpPr>
          <p:cNvPr id="7" name="Shape 5"/>
          <p:cNvSpPr/>
          <p:nvPr/>
        </p:nvSpPr>
        <p:spPr>
          <a:xfrm>
            <a:off x="822960" y="4297680"/>
            <a:ext cx="1792224" cy="457200"/>
          </a:xfrm>
          <a:prstGeom prst="roundRect">
            <a:avLst>
              <a:gd name="adj" fmla="val 50000"/>
            </a:avLst>
          </a:prstGeom>
          <a:solidFill>
            <a:srgbClr val="FFFFFF">
              <a:alpha val="12000"/>
            </a:srgbClr>
          </a:solidFill>
          <a:ln w="12700">
            <a:solidFill>
              <a:srgbClr val="02C39A"/>
            </a:solidFill>
            <a:prstDash val="solid"/>
          </a:ln>
        </p:spPr>
      </p:sp>
      <p:sp>
        <p:nvSpPr>
          <p:cNvPr id="8" name="Text 6"/>
          <p:cNvSpPr/>
          <p:nvPr/>
        </p:nvSpPr>
        <p:spPr>
          <a:xfrm>
            <a:off x="822960" y="4297680"/>
            <a:ext cx="1792224" cy="457200"/>
          </a:xfrm>
          <a:prstGeom prst="rect">
            <a:avLst/>
          </a:prstGeom>
          <a:noFill/>
          <a:ln/>
        </p:spPr>
        <p:txBody>
          <a:bodyPr wrap="square" lIns="0" tIns="0" rIns="0" bIns="0" rtlCol="0" anchor="ctr"/>
          <a:lstStyle/>
          <a:p>
            <a:pPr algn="ctr" indent="0" marL="0">
              <a:buNone/>
            </a:pPr>
            <a:r>
              <a:rPr lang="en-US" sz="1250" b="1" dirty="0">
                <a:solidFill>
                  <a:srgbClr val="E8F6F1"/>
                </a:solidFill>
                <a:latin typeface="Calibri" pitchFamily="34" charset="0"/>
                <a:ea typeface="Calibri" pitchFamily="34" charset="-122"/>
                <a:cs typeface="Calibri" pitchFamily="34" charset="-120"/>
              </a:rPr>
              <a:t>FSM Controller</a:t>
            </a:r>
            <a:endParaRPr lang="en-US" sz="1250" dirty="0"/>
          </a:p>
        </p:txBody>
      </p:sp>
      <p:sp>
        <p:nvSpPr>
          <p:cNvPr id="9" name="Shape 7"/>
          <p:cNvSpPr/>
          <p:nvPr/>
        </p:nvSpPr>
        <p:spPr>
          <a:xfrm>
            <a:off x="2843784" y="4297680"/>
            <a:ext cx="1687068" cy="457200"/>
          </a:xfrm>
          <a:prstGeom prst="roundRect">
            <a:avLst>
              <a:gd name="adj" fmla="val 50000"/>
            </a:avLst>
          </a:prstGeom>
          <a:solidFill>
            <a:srgbClr val="FFFFFF">
              <a:alpha val="12000"/>
            </a:srgbClr>
          </a:solidFill>
          <a:ln w="12700">
            <a:solidFill>
              <a:srgbClr val="02C39A"/>
            </a:solidFill>
            <a:prstDash val="solid"/>
          </a:ln>
        </p:spPr>
      </p:sp>
      <p:sp>
        <p:nvSpPr>
          <p:cNvPr id="10" name="Text 8"/>
          <p:cNvSpPr/>
          <p:nvPr/>
        </p:nvSpPr>
        <p:spPr>
          <a:xfrm>
            <a:off x="2843784" y="4297680"/>
            <a:ext cx="1687068" cy="457200"/>
          </a:xfrm>
          <a:prstGeom prst="rect">
            <a:avLst/>
          </a:prstGeom>
          <a:noFill/>
          <a:ln/>
        </p:spPr>
        <p:txBody>
          <a:bodyPr wrap="square" lIns="0" tIns="0" rIns="0" bIns="0" rtlCol="0" anchor="ctr"/>
          <a:lstStyle/>
          <a:p>
            <a:pPr algn="ctr" indent="0" marL="0">
              <a:buNone/>
            </a:pPr>
            <a:r>
              <a:rPr lang="en-US" sz="1250" b="1" dirty="0">
                <a:solidFill>
                  <a:srgbClr val="E8F6F1"/>
                </a:solidFill>
                <a:latin typeface="Calibri" pitchFamily="34" charset="0"/>
                <a:ea typeface="Calibri" pitchFamily="34" charset="-122"/>
                <a:cs typeface="Calibri" pitchFamily="34" charset="-120"/>
              </a:rPr>
              <a:t>16×9 FIFOs ×3</a:t>
            </a:r>
            <a:endParaRPr lang="en-US" sz="1250" dirty="0"/>
          </a:p>
        </p:txBody>
      </p:sp>
      <p:sp>
        <p:nvSpPr>
          <p:cNvPr id="11" name="Shape 9"/>
          <p:cNvSpPr/>
          <p:nvPr/>
        </p:nvSpPr>
        <p:spPr>
          <a:xfrm>
            <a:off x="4759452" y="4297680"/>
            <a:ext cx="1581912" cy="457200"/>
          </a:xfrm>
          <a:prstGeom prst="roundRect">
            <a:avLst>
              <a:gd name="adj" fmla="val 50000"/>
            </a:avLst>
          </a:prstGeom>
          <a:solidFill>
            <a:srgbClr val="FFFFFF">
              <a:alpha val="12000"/>
            </a:srgbClr>
          </a:solidFill>
          <a:ln w="12700">
            <a:solidFill>
              <a:srgbClr val="02C39A"/>
            </a:solidFill>
            <a:prstDash val="solid"/>
          </a:ln>
        </p:spPr>
      </p:sp>
      <p:sp>
        <p:nvSpPr>
          <p:cNvPr id="12" name="Text 10"/>
          <p:cNvSpPr/>
          <p:nvPr/>
        </p:nvSpPr>
        <p:spPr>
          <a:xfrm>
            <a:off x="4759452" y="4297680"/>
            <a:ext cx="1581912" cy="457200"/>
          </a:xfrm>
          <a:prstGeom prst="rect">
            <a:avLst/>
          </a:prstGeom>
          <a:noFill/>
          <a:ln/>
        </p:spPr>
        <p:txBody>
          <a:bodyPr wrap="square" lIns="0" tIns="0" rIns="0" bIns="0" rtlCol="0" anchor="ctr"/>
          <a:lstStyle/>
          <a:p>
            <a:pPr algn="ctr" indent="0" marL="0">
              <a:buNone/>
            </a:pPr>
            <a:r>
              <a:rPr lang="en-US" sz="1250" b="1" dirty="0">
                <a:solidFill>
                  <a:srgbClr val="E8F6F1"/>
                </a:solidFill>
                <a:latin typeface="Calibri" pitchFamily="34" charset="0"/>
                <a:ea typeface="Calibri" pitchFamily="34" charset="-122"/>
                <a:cs typeface="Calibri" pitchFamily="34" charset="-120"/>
              </a:rPr>
              <a:t>Parity Check</a:t>
            </a:r>
            <a:endParaRPr lang="en-US" sz="1250" dirty="0"/>
          </a:p>
        </p:txBody>
      </p:sp>
      <p:sp>
        <p:nvSpPr>
          <p:cNvPr id="13" name="Shape 11"/>
          <p:cNvSpPr/>
          <p:nvPr/>
        </p:nvSpPr>
        <p:spPr>
          <a:xfrm>
            <a:off x="6569964" y="4297680"/>
            <a:ext cx="2212848" cy="457200"/>
          </a:xfrm>
          <a:prstGeom prst="roundRect">
            <a:avLst>
              <a:gd name="adj" fmla="val 50000"/>
            </a:avLst>
          </a:prstGeom>
          <a:solidFill>
            <a:srgbClr val="FFFFFF">
              <a:alpha val="12000"/>
            </a:srgbClr>
          </a:solidFill>
          <a:ln w="12700">
            <a:solidFill>
              <a:srgbClr val="02C39A"/>
            </a:solidFill>
            <a:prstDash val="solid"/>
          </a:ln>
        </p:spPr>
      </p:sp>
      <p:sp>
        <p:nvSpPr>
          <p:cNvPr id="14" name="Text 12"/>
          <p:cNvSpPr/>
          <p:nvPr/>
        </p:nvSpPr>
        <p:spPr>
          <a:xfrm>
            <a:off x="6569964" y="4297680"/>
            <a:ext cx="2212848" cy="457200"/>
          </a:xfrm>
          <a:prstGeom prst="rect">
            <a:avLst/>
          </a:prstGeom>
          <a:noFill/>
          <a:ln/>
        </p:spPr>
        <p:txBody>
          <a:bodyPr wrap="square" lIns="0" tIns="0" rIns="0" bIns="0" rtlCol="0" anchor="ctr"/>
          <a:lstStyle/>
          <a:p>
            <a:pPr algn="ctr" indent="0" marL="0">
              <a:buNone/>
            </a:pPr>
            <a:r>
              <a:rPr lang="en-US" sz="1250" b="1" dirty="0">
                <a:solidFill>
                  <a:srgbClr val="E8F6F1"/>
                </a:solidFill>
                <a:latin typeface="Calibri" pitchFamily="34" charset="0"/>
                <a:ea typeface="Calibri" pitchFamily="34" charset="-122"/>
                <a:cs typeface="Calibri" pitchFamily="34" charset="-120"/>
              </a:rPr>
              <a:t>Soft-Reset Timeout</a:t>
            </a:r>
            <a:endParaRPr lang="en-US" sz="1250" dirty="0"/>
          </a:p>
        </p:txBody>
      </p:sp>
      <p:sp>
        <p:nvSpPr>
          <p:cNvPr id="15" name="Text 13"/>
          <p:cNvSpPr/>
          <p:nvPr/>
        </p:nvSpPr>
        <p:spPr>
          <a:xfrm>
            <a:off x="822960" y="5943600"/>
            <a:ext cx="9144000" cy="365760"/>
          </a:xfrm>
          <a:prstGeom prst="rect">
            <a:avLst/>
          </a:prstGeom>
          <a:noFill/>
          <a:ln/>
        </p:spPr>
        <p:txBody>
          <a:bodyPr wrap="square" lIns="0" tIns="0" rIns="0" bIns="0" rtlCol="0" anchor="ctr"/>
          <a:lstStyle/>
          <a:p>
            <a:pPr indent="0" marL="0">
              <a:buNone/>
            </a:pPr>
            <a:r>
              <a:rPr lang="en-US" sz="1400" dirty="0">
                <a:solidFill>
                  <a:srgbClr val="9FB0C2"/>
                </a:solidFill>
                <a:latin typeface="Calibri" pitchFamily="34" charset="0"/>
                <a:ea typeface="Calibri" pitchFamily="34" charset="-122"/>
                <a:cs typeface="Calibri" pitchFamily="34" charset="-120"/>
              </a:rPr>
              <a:t>Chaitanya Roy   |   Interview Preparation Deck</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BIG PICTURE</a:t>
            </a:r>
            <a:endParaRPr lang="en-US" sz="1200" dirty="0"/>
          </a:p>
        </p:txBody>
      </p:sp>
      <p:sp>
        <p:nvSpPr>
          <p:cNvPr id="3" name="Text 1"/>
          <p:cNvSpPr/>
          <p:nvPr/>
        </p:nvSpPr>
        <p:spPr>
          <a:xfrm>
            <a:off x="548640" y="640080"/>
            <a:ext cx="1042416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What have I built?</a:t>
            </a:r>
            <a:endParaRPr lang="en-US" sz="3000" dirty="0"/>
          </a:p>
        </p:txBody>
      </p:sp>
      <p:sp>
        <p:nvSpPr>
          <p:cNvPr id="4" name="Shape 2"/>
          <p:cNvSpPr/>
          <p:nvPr/>
        </p:nvSpPr>
        <p:spPr>
          <a:xfrm>
            <a:off x="11292840" y="457200"/>
            <a:ext cx="502920" cy="502920"/>
          </a:xfrm>
          <a:prstGeom prst="ellipse">
            <a:avLst/>
          </a:prstGeom>
          <a:solidFill>
            <a:srgbClr val="21295C"/>
          </a:solidFill>
          <a:ln/>
        </p:spPr>
      </p:sp>
      <p:sp>
        <p:nvSpPr>
          <p:cNvPr id="5" name="Text 3"/>
          <p:cNvSpPr/>
          <p:nvPr/>
        </p:nvSpPr>
        <p:spPr>
          <a:xfrm>
            <a:off x="112928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Shape 4"/>
          <p:cNvSpPr/>
          <p:nvPr/>
        </p:nvSpPr>
        <p:spPr>
          <a:xfrm>
            <a:off x="548640" y="1508760"/>
            <a:ext cx="5532120" cy="4754880"/>
          </a:xfrm>
          <a:prstGeom prst="roundRect">
            <a:avLst>
              <a:gd name="adj" fmla="val 1731"/>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7" name="Text 5"/>
          <p:cNvSpPr/>
          <p:nvPr/>
        </p:nvSpPr>
        <p:spPr>
          <a:xfrm>
            <a:off x="868680" y="1783080"/>
            <a:ext cx="493776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In one line</a:t>
            </a:r>
            <a:endParaRPr lang="en-US" sz="1300" dirty="0"/>
          </a:p>
        </p:txBody>
      </p:sp>
      <p:sp>
        <p:nvSpPr>
          <p:cNvPr id="8" name="Text 6"/>
          <p:cNvSpPr/>
          <p:nvPr/>
        </p:nvSpPr>
        <p:spPr>
          <a:xfrm>
            <a:off x="868680" y="2148840"/>
            <a:ext cx="4937760" cy="1463040"/>
          </a:xfrm>
          <a:prstGeom prst="rect">
            <a:avLst/>
          </a:prstGeom>
          <a:noFill/>
          <a:ln/>
        </p:spPr>
        <p:txBody>
          <a:bodyPr wrap="square" lIns="0" tIns="0" rIns="0" bIns="0" rtlCol="0" anchor="ctr"/>
          <a:lstStyle/>
          <a:p>
            <a:pPr indent="0" marL="0">
              <a:lnSpc>
                <a:spcPct val="115000"/>
              </a:lnSpc>
              <a:buNone/>
            </a:pPr>
            <a:r>
              <a:rPr lang="en-US" sz="1650" dirty="0">
                <a:solidFill>
                  <a:srgbClr val="1B2430"/>
                </a:solidFill>
                <a:latin typeface="Calibri" pitchFamily="34" charset="0"/>
                <a:ea typeface="Calibri" pitchFamily="34" charset="-122"/>
                <a:cs typeface="Calibri" pitchFamily="34" charset="-120"/>
              </a:rPr>
              <a:t>A </a:t>
            </a:r>
            <a:pPr indent="0" marL="0">
              <a:lnSpc>
                <a:spcPct val="115000"/>
              </a:lnSpc>
              <a:buNone/>
            </a:pPr>
            <a:r>
              <a:rPr lang="en-US" sz="1650" b="1" dirty="0">
                <a:solidFill>
                  <a:srgbClr val="065A82"/>
                </a:solidFill>
                <a:latin typeface="Calibri" pitchFamily="34" charset="0"/>
                <a:ea typeface="Calibri" pitchFamily="34" charset="-122"/>
                <a:cs typeface="Calibri" pitchFamily="34" charset="-120"/>
              </a:rPr>
              <a:t>1-to-3 packet router</a:t>
            </a:r>
            <a:pPr indent="0" marL="0">
              <a:lnSpc>
                <a:spcPct val="115000"/>
              </a:lnSpc>
              <a:buNone/>
            </a:pPr>
            <a:r>
              <a:rPr lang="en-US" sz="1650" dirty="0">
                <a:solidFill>
                  <a:srgbClr val="1B2430"/>
                </a:solidFill>
                <a:latin typeface="Calibri" pitchFamily="34" charset="0"/>
                <a:ea typeface="Calibri" pitchFamily="34" charset="-122"/>
                <a:cs typeface="Calibri" pitchFamily="34" charset="-120"/>
              </a:rPr>
              <a:t>: it reads a stream of bytes on one input port, looks at the </a:t>
            </a:r>
            <a:pPr indent="0" marL="0">
              <a:lnSpc>
                <a:spcPct val="115000"/>
              </a:lnSpc>
              <a:buNone/>
            </a:pPr>
            <a:r>
              <a:rPr lang="en-US" sz="1650" b="1" dirty="0">
                <a:solidFill>
                  <a:srgbClr val="065A82"/>
                </a:solidFill>
                <a:latin typeface="Calibri" pitchFamily="34" charset="0"/>
                <a:ea typeface="Calibri" pitchFamily="34" charset="-122"/>
                <a:cs typeface="Calibri" pitchFamily="34" charset="-120"/>
              </a:rPr>
              <a:t>address in the packet header</a:t>
            </a:r>
            <a:pPr indent="0" marL="0">
              <a:lnSpc>
                <a:spcPct val="115000"/>
              </a:lnSpc>
              <a:buNone/>
            </a:pPr>
            <a:r>
              <a:rPr lang="en-US" sz="1650" dirty="0">
                <a:solidFill>
                  <a:srgbClr val="1B2430"/>
                </a:solidFill>
                <a:latin typeface="Calibri" pitchFamily="34" charset="0"/>
                <a:ea typeface="Calibri" pitchFamily="34" charset="-122"/>
                <a:cs typeface="Calibri" pitchFamily="34" charset="-120"/>
              </a:rPr>
              <a:t>, and delivers the packet to one of three output channels — while checking it for errors.</a:t>
            </a:r>
            <a:endParaRPr lang="en-US" sz="1650" dirty="0"/>
          </a:p>
        </p:txBody>
      </p:sp>
      <p:sp>
        <p:nvSpPr>
          <p:cNvPr id="9" name="Text 7"/>
          <p:cNvSpPr/>
          <p:nvPr/>
        </p:nvSpPr>
        <p:spPr>
          <a:xfrm>
            <a:off x="868680" y="3703320"/>
            <a:ext cx="493776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Think of it as a tiny post office</a:t>
            </a:r>
            <a:endParaRPr lang="en-US" sz="1300" dirty="0"/>
          </a:p>
        </p:txBody>
      </p:sp>
      <p:sp>
        <p:nvSpPr>
          <p:cNvPr id="10" name="Text 8"/>
          <p:cNvSpPr/>
          <p:nvPr/>
        </p:nvSpPr>
        <p:spPr>
          <a:xfrm>
            <a:off x="868680" y="4023360"/>
            <a:ext cx="4937760" cy="1463040"/>
          </a:xfrm>
          <a:prstGeom prst="rect">
            <a:avLst/>
          </a:prstGeom>
          <a:noFill/>
          <a:ln/>
        </p:spPr>
        <p:txBody>
          <a:bodyPr wrap="square" lIns="0" tIns="0" rIns="0" bIns="0" rtlCol="0" anchor="ctr"/>
          <a:lstStyle/>
          <a:p>
            <a:pPr indent="0" marL="0">
              <a:lnSpc>
                <a:spcPct val="115000"/>
              </a:lnSpc>
              <a:buNone/>
            </a:pPr>
            <a:r>
              <a:rPr lang="en-US" sz="1500" dirty="0">
                <a:solidFill>
                  <a:srgbClr val="5B6B7B"/>
                </a:solidFill>
                <a:latin typeface="Calibri" pitchFamily="34" charset="0"/>
                <a:ea typeface="Calibri" pitchFamily="34" charset="-122"/>
                <a:cs typeface="Calibri" pitchFamily="34" charset="-120"/>
              </a:rPr>
              <a:t>Letters (bytes) arrive at one counter. The clerk reads the address on the envelope, drops each letter into the right mailbox (FIFO), and a parity check makes sure nothing was corrupted on the way.</a:t>
            </a:r>
            <a:endParaRPr lang="en-US" sz="1500" dirty="0"/>
          </a:p>
        </p:txBody>
      </p:sp>
      <p:sp>
        <p:nvSpPr>
          <p:cNvPr id="11" name="Shape 9"/>
          <p:cNvSpPr/>
          <p:nvPr/>
        </p:nvSpPr>
        <p:spPr>
          <a:xfrm>
            <a:off x="6400800" y="1508760"/>
            <a:ext cx="5212080" cy="4754880"/>
          </a:xfrm>
          <a:prstGeom prst="roundRect">
            <a:avLst>
              <a:gd name="adj" fmla="val 1731"/>
            </a:avLst>
          </a:prstGeom>
          <a:solidFill>
            <a:srgbClr val="21295C"/>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12" name="Text 10"/>
          <p:cNvSpPr/>
          <p:nvPr/>
        </p:nvSpPr>
        <p:spPr>
          <a:xfrm>
            <a:off x="6400800" y="1783080"/>
            <a:ext cx="5212080" cy="365760"/>
          </a:xfrm>
          <a:prstGeom prst="rect">
            <a:avLst/>
          </a:prstGeom>
          <a:noFill/>
          <a:ln/>
        </p:spPr>
        <p:txBody>
          <a:bodyPr wrap="square" lIns="0" tIns="0" rIns="0" bIns="0" rtlCol="0" anchor="ctr"/>
          <a:lstStyle/>
          <a:p>
            <a:pPr algn="ctr" indent="0" marL="0">
              <a:buNone/>
            </a:pPr>
            <a:r>
              <a:rPr lang="en-US" sz="1400" b="1" dirty="0">
                <a:solidFill>
                  <a:srgbClr val="02C39A"/>
                </a:solidFill>
                <a:latin typeface="Calibri" pitchFamily="34" charset="0"/>
                <a:ea typeface="Calibri" pitchFamily="34" charset="-122"/>
                <a:cs typeface="Calibri" pitchFamily="34" charset="-120"/>
              </a:rPr>
              <a:t>1 input  →  3 outputs</a:t>
            </a:r>
            <a:endParaRPr lang="en-US" sz="1400" dirty="0"/>
          </a:p>
        </p:txBody>
      </p:sp>
      <p:sp>
        <p:nvSpPr>
          <p:cNvPr id="13" name="Shape 11"/>
          <p:cNvSpPr/>
          <p:nvPr/>
        </p:nvSpPr>
        <p:spPr>
          <a:xfrm>
            <a:off x="6720840" y="3246120"/>
            <a:ext cx="1371600" cy="914400"/>
          </a:xfrm>
          <a:prstGeom prst="roundRect">
            <a:avLst>
              <a:gd name="adj" fmla="val 8000"/>
            </a:avLst>
          </a:prstGeom>
          <a:solidFill>
            <a:srgbClr val="065A82"/>
          </a:solidFill>
          <a:ln/>
        </p:spPr>
      </p:sp>
      <p:sp>
        <p:nvSpPr>
          <p:cNvPr id="14" name="Text 12"/>
          <p:cNvSpPr/>
          <p:nvPr/>
        </p:nvSpPr>
        <p:spPr>
          <a:xfrm>
            <a:off x="6720840" y="3246120"/>
            <a:ext cx="137160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data_in</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8-bit</a:t>
            </a:r>
            <a:endParaRPr lang="en-US" sz="1200" dirty="0"/>
          </a:p>
        </p:txBody>
      </p:sp>
      <p:sp>
        <p:nvSpPr>
          <p:cNvPr id="15" name="Shape 13"/>
          <p:cNvSpPr/>
          <p:nvPr/>
        </p:nvSpPr>
        <p:spPr>
          <a:xfrm>
            <a:off x="8503920" y="3063240"/>
            <a:ext cx="1371600" cy="1280160"/>
          </a:xfrm>
          <a:prstGeom prst="roundRect">
            <a:avLst>
              <a:gd name="adj" fmla="val 5714"/>
            </a:avLst>
          </a:prstGeom>
          <a:solidFill>
            <a:srgbClr val="02C39A"/>
          </a:solidFill>
          <a:ln/>
        </p:spPr>
      </p:sp>
      <p:sp>
        <p:nvSpPr>
          <p:cNvPr id="16" name="Text 14"/>
          <p:cNvSpPr/>
          <p:nvPr/>
        </p:nvSpPr>
        <p:spPr>
          <a:xfrm>
            <a:off x="8503920" y="3063240"/>
            <a:ext cx="1371600" cy="1280160"/>
          </a:xfrm>
          <a:prstGeom prst="rect">
            <a:avLst/>
          </a:prstGeom>
          <a:noFill/>
          <a:ln/>
        </p:spPr>
        <p:txBody>
          <a:bodyPr wrap="square" lIns="0" tIns="0" rIns="0" bIns="0" rtlCol="0" anchor="ctr"/>
          <a:lstStyle/>
          <a:p>
            <a:pPr algn="ctr" indent="0" marL="0">
              <a:buNone/>
            </a:pPr>
            <a:r>
              <a:rPr lang="en-US" sz="1300" b="1" dirty="0">
                <a:solidFill>
                  <a:srgbClr val="21295C"/>
                </a:solidFill>
                <a:latin typeface="Calibri" pitchFamily="34" charset="0"/>
                <a:ea typeface="Calibri" pitchFamily="34" charset="-122"/>
                <a:cs typeface="Calibri" pitchFamily="34" charset="-120"/>
              </a:rPr>
              <a:t>ROUTER</a:t>
            </a:r>
            <a:endParaRPr lang="en-US" sz="1300" dirty="0"/>
          </a:p>
        </p:txBody>
      </p:sp>
      <p:sp>
        <p:nvSpPr>
          <p:cNvPr id="17" name="Shape 15"/>
          <p:cNvSpPr/>
          <p:nvPr/>
        </p:nvSpPr>
        <p:spPr>
          <a:xfrm>
            <a:off x="10195560" y="2331720"/>
            <a:ext cx="1188720" cy="685800"/>
          </a:xfrm>
          <a:prstGeom prst="roundRect">
            <a:avLst>
              <a:gd name="adj" fmla="val 8000"/>
            </a:avLst>
          </a:prstGeom>
          <a:solidFill>
            <a:srgbClr val="1C7293"/>
          </a:solidFill>
          <a:ln/>
        </p:spPr>
      </p:sp>
      <p:sp>
        <p:nvSpPr>
          <p:cNvPr id="18" name="Text 16"/>
          <p:cNvSpPr/>
          <p:nvPr/>
        </p:nvSpPr>
        <p:spPr>
          <a:xfrm>
            <a:off x="10195560" y="2331720"/>
            <a:ext cx="118872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out_0</a:t>
            </a:r>
            <a:endParaRPr lang="en-US" sz="1200" dirty="0"/>
          </a:p>
        </p:txBody>
      </p:sp>
      <p:sp>
        <p:nvSpPr>
          <p:cNvPr id="19" name="Shape 17"/>
          <p:cNvSpPr/>
          <p:nvPr/>
        </p:nvSpPr>
        <p:spPr>
          <a:xfrm>
            <a:off x="9875520" y="3703320"/>
            <a:ext cx="320040" cy="-1028700"/>
          </a:xfrm>
          <a:prstGeom prst="line">
            <a:avLst/>
          </a:prstGeom>
          <a:noFill/>
          <a:ln w="19050">
            <a:solidFill>
              <a:srgbClr val="8FA6B5"/>
            </a:solidFill>
            <a:prstDash val="solid"/>
            <a:tailEnd type="triangle"/>
          </a:ln>
        </p:spPr>
      </p:sp>
      <p:sp>
        <p:nvSpPr>
          <p:cNvPr id="20" name="Shape 18"/>
          <p:cNvSpPr/>
          <p:nvPr/>
        </p:nvSpPr>
        <p:spPr>
          <a:xfrm>
            <a:off x="10195560" y="3429000"/>
            <a:ext cx="1188720" cy="685800"/>
          </a:xfrm>
          <a:prstGeom prst="roundRect">
            <a:avLst>
              <a:gd name="adj" fmla="val 8000"/>
            </a:avLst>
          </a:prstGeom>
          <a:solidFill>
            <a:srgbClr val="1C7293"/>
          </a:solidFill>
          <a:ln/>
        </p:spPr>
      </p:sp>
      <p:sp>
        <p:nvSpPr>
          <p:cNvPr id="21" name="Text 19"/>
          <p:cNvSpPr/>
          <p:nvPr/>
        </p:nvSpPr>
        <p:spPr>
          <a:xfrm>
            <a:off x="10195560" y="3429000"/>
            <a:ext cx="118872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out_1</a:t>
            </a:r>
            <a:endParaRPr lang="en-US" sz="1200" dirty="0"/>
          </a:p>
        </p:txBody>
      </p:sp>
      <p:sp>
        <p:nvSpPr>
          <p:cNvPr id="22" name="Shape 20"/>
          <p:cNvSpPr/>
          <p:nvPr/>
        </p:nvSpPr>
        <p:spPr>
          <a:xfrm>
            <a:off x="9875520" y="3703320"/>
            <a:ext cx="320040" cy="68580"/>
          </a:xfrm>
          <a:prstGeom prst="line">
            <a:avLst/>
          </a:prstGeom>
          <a:noFill/>
          <a:ln w="19050">
            <a:solidFill>
              <a:srgbClr val="8FA6B5"/>
            </a:solidFill>
            <a:prstDash val="solid"/>
            <a:tailEnd type="triangle"/>
          </a:ln>
        </p:spPr>
      </p:sp>
      <p:sp>
        <p:nvSpPr>
          <p:cNvPr id="23" name="Shape 21"/>
          <p:cNvSpPr/>
          <p:nvPr/>
        </p:nvSpPr>
        <p:spPr>
          <a:xfrm>
            <a:off x="10195560" y="4526280"/>
            <a:ext cx="1188720" cy="685800"/>
          </a:xfrm>
          <a:prstGeom prst="roundRect">
            <a:avLst>
              <a:gd name="adj" fmla="val 8000"/>
            </a:avLst>
          </a:prstGeom>
          <a:solidFill>
            <a:srgbClr val="1C7293"/>
          </a:solidFill>
          <a:ln/>
        </p:spPr>
      </p:sp>
      <p:sp>
        <p:nvSpPr>
          <p:cNvPr id="24" name="Text 22"/>
          <p:cNvSpPr/>
          <p:nvPr/>
        </p:nvSpPr>
        <p:spPr>
          <a:xfrm>
            <a:off x="10195560" y="4526280"/>
            <a:ext cx="1188720"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out_2</a:t>
            </a:r>
            <a:endParaRPr lang="en-US" sz="1200" dirty="0"/>
          </a:p>
        </p:txBody>
      </p:sp>
      <p:sp>
        <p:nvSpPr>
          <p:cNvPr id="25" name="Shape 23"/>
          <p:cNvSpPr/>
          <p:nvPr/>
        </p:nvSpPr>
        <p:spPr>
          <a:xfrm>
            <a:off x="9875520" y="3703320"/>
            <a:ext cx="320040" cy="1165860"/>
          </a:xfrm>
          <a:prstGeom prst="line">
            <a:avLst/>
          </a:prstGeom>
          <a:noFill/>
          <a:ln w="19050">
            <a:solidFill>
              <a:srgbClr val="8FA6B5"/>
            </a:solidFill>
            <a:prstDash val="solid"/>
            <a:tailEnd type="triangle"/>
          </a:ln>
        </p:spPr>
      </p:sp>
      <p:sp>
        <p:nvSpPr>
          <p:cNvPr id="26" name="Shape 24"/>
          <p:cNvSpPr/>
          <p:nvPr/>
        </p:nvSpPr>
        <p:spPr>
          <a:xfrm>
            <a:off x="8092440" y="3703320"/>
            <a:ext cx="411480" cy="0"/>
          </a:xfrm>
          <a:prstGeom prst="line">
            <a:avLst/>
          </a:prstGeom>
          <a:noFill/>
          <a:ln w="19050">
            <a:solidFill>
              <a:srgbClr val="8FA6B5"/>
            </a:solidFill>
            <a:prstDash val="solid"/>
            <a:tailEnd type="triangle"/>
          </a:ln>
        </p:spPr>
      </p:sp>
      <p:sp>
        <p:nvSpPr>
          <p:cNvPr id="27" name="Text 25"/>
          <p:cNvSpPr/>
          <p:nvPr/>
        </p:nvSpPr>
        <p:spPr>
          <a:xfrm>
            <a:off x="6400800" y="5669280"/>
            <a:ext cx="5212080" cy="365760"/>
          </a:xfrm>
          <a:prstGeom prst="rect">
            <a:avLst/>
          </a:prstGeom>
          <a:noFill/>
          <a:ln/>
        </p:spPr>
        <p:txBody>
          <a:bodyPr wrap="square" lIns="0" tIns="0" rIns="0" bIns="0" rtlCol="0" anchor="ctr"/>
          <a:lstStyle/>
          <a:p>
            <a:pPr algn="ctr" indent="0" marL="0">
              <a:buNone/>
            </a:pPr>
            <a:r>
              <a:rPr lang="en-US" sz="1250" i="1" dirty="0">
                <a:solidFill>
                  <a:srgbClr val="AEBED0"/>
                </a:solidFill>
                <a:latin typeface="Calibri" pitchFamily="34" charset="0"/>
                <a:ea typeface="Calibri" pitchFamily="34" charset="-122"/>
                <a:cs typeface="Calibri" pitchFamily="34" charset="-120"/>
              </a:rPr>
              <a:t>Address bits [1:0] pick the channel:  00→0  01→1  10→2</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DATA</a:t>
            </a:r>
            <a:endParaRPr lang="en-US" sz="1200" dirty="0"/>
          </a:p>
        </p:txBody>
      </p:sp>
      <p:sp>
        <p:nvSpPr>
          <p:cNvPr id="3" name="Text 1"/>
          <p:cNvSpPr/>
          <p:nvPr/>
        </p:nvSpPr>
        <p:spPr>
          <a:xfrm>
            <a:off x="548640" y="640080"/>
            <a:ext cx="1042416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The packet format</a:t>
            </a:r>
            <a:endParaRPr lang="en-US" sz="3000" dirty="0"/>
          </a:p>
        </p:txBody>
      </p:sp>
      <p:sp>
        <p:nvSpPr>
          <p:cNvPr id="4" name="Shape 2"/>
          <p:cNvSpPr/>
          <p:nvPr/>
        </p:nvSpPr>
        <p:spPr>
          <a:xfrm>
            <a:off x="11292840" y="457200"/>
            <a:ext cx="502920" cy="502920"/>
          </a:xfrm>
          <a:prstGeom prst="ellipse">
            <a:avLst/>
          </a:prstGeom>
          <a:solidFill>
            <a:srgbClr val="21295C"/>
          </a:solidFill>
          <a:ln/>
        </p:spPr>
      </p:sp>
      <p:sp>
        <p:nvSpPr>
          <p:cNvPr id="5" name="Text 3"/>
          <p:cNvSpPr/>
          <p:nvPr/>
        </p:nvSpPr>
        <p:spPr>
          <a:xfrm>
            <a:off x="112928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6" name="Text 4"/>
          <p:cNvSpPr/>
          <p:nvPr/>
        </p:nvSpPr>
        <p:spPr>
          <a:xfrm>
            <a:off x="548640" y="1463040"/>
            <a:ext cx="10972800" cy="548640"/>
          </a:xfrm>
          <a:prstGeom prst="rect">
            <a:avLst/>
          </a:prstGeom>
          <a:noFill/>
          <a:ln/>
        </p:spPr>
        <p:txBody>
          <a:bodyPr wrap="square" lIns="0" tIns="0" rIns="0" bIns="0" rtlCol="0" anchor="ctr"/>
          <a:lstStyle/>
          <a:p>
            <a:pPr indent="0" marL="0">
              <a:buNone/>
            </a:pPr>
            <a:r>
              <a:rPr lang="en-US" sz="1550" dirty="0">
                <a:solidFill>
                  <a:srgbClr val="5B6B7B"/>
                </a:solidFill>
                <a:latin typeface="Calibri" pitchFamily="34" charset="0"/>
                <a:ea typeface="Calibri" pitchFamily="34" charset="-122"/>
                <a:cs typeface="Calibri" pitchFamily="34" charset="-120"/>
              </a:rPr>
              <a:t>Every packet is a stream of bytes with three parts. The very first byte is the header — it tells the router where to go and how big the packet is.</a:t>
            </a:r>
            <a:endParaRPr lang="en-US" sz="1550" dirty="0"/>
          </a:p>
        </p:txBody>
      </p:sp>
      <p:sp>
        <p:nvSpPr>
          <p:cNvPr id="7" name="Shape 5"/>
          <p:cNvSpPr/>
          <p:nvPr/>
        </p:nvSpPr>
        <p:spPr>
          <a:xfrm>
            <a:off x="548640" y="2286000"/>
            <a:ext cx="3108960" cy="1371600"/>
          </a:xfrm>
          <a:prstGeom prst="roundRect">
            <a:avLst>
              <a:gd name="adj" fmla="val 5333"/>
            </a:avLst>
          </a:prstGeom>
          <a:solidFill>
            <a:srgbClr val="065A82"/>
          </a:solidFill>
          <a:ln/>
          <a:effectLst>
            <a:outerShdw sx="100000" sy="100000" kx="0" ky="0" algn="bl" rotWithShape="0" blurRad="101600" dist="38100" dir="5400000">
              <a:srgbClr val="9AA8B5">
                <a:alpha val="35000"/>
              </a:srgbClr>
            </a:outerShdw>
          </a:effectLst>
        </p:spPr>
      </p:sp>
      <p:sp>
        <p:nvSpPr>
          <p:cNvPr id="8" name="Text 6"/>
          <p:cNvSpPr/>
          <p:nvPr/>
        </p:nvSpPr>
        <p:spPr>
          <a:xfrm>
            <a:off x="548640" y="2514600"/>
            <a:ext cx="310896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HEADER</a:t>
            </a:r>
            <a:endParaRPr lang="en-US" sz="2200" dirty="0"/>
          </a:p>
        </p:txBody>
      </p:sp>
      <p:sp>
        <p:nvSpPr>
          <p:cNvPr id="9" name="Text 7"/>
          <p:cNvSpPr/>
          <p:nvPr/>
        </p:nvSpPr>
        <p:spPr>
          <a:xfrm>
            <a:off x="548640" y="2971800"/>
            <a:ext cx="3108960" cy="320040"/>
          </a:xfrm>
          <a:prstGeom prst="rect">
            <a:avLst/>
          </a:prstGeom>
          <a:noFill/>
          <a:ln/>
        </p:spPr>
        <p:txBody>
          <a:bodyPr wrap="square" lIns="0" tIns="0" rIns="0" bIns="0" rtlCol="0" anchor="ctr"/>
          <a:lstStyle/>
          <a:p>
            <a:pPr algn="ctr" indent="0" marL="0">
              <a:buNone/>
            </a:pPr>
            <a:r>
              <a:rPr lang="en-US" sz="1300" b="1" dirty="0">
                <a:solidFill>
                  <a:srgbClr val="EAF3F0"/>
                </a:solidFill>
                <a:latin typeface="Calibri" pitchFamily="34" charset="0"/>
                <a:ea typeface="Calibri" pitchFamily="34" charset="-122"/>
                <a:cs typeface="Calibri" pitchFamily="34" charset="-120"/>
              </a:rPr>
              <a:t>1 byte</a:t>
            </a:r>
            <a:endParaRPr lang="en-US" sz="1300" dirty="0"/>
          </a:p>
        </p:txBody>
      </p:sp>
      <p:sp>
        <p:nvSpPr>
          <p:cNvPr id="10" name="Text 8"/>
          <p:cNvSpPr/>
          <p:nvPr/>
        </p:nvSpPr>
        <p:spPr>
          <a:xfrm>
            <a:off x="548640" y="3273552"/>
            <a:ext cx="3108960" cy="320040"/>
          </a:xfrm>
          <a:prstGeom prst="rect">
            <a:avLst/>
          </a:prstGeom>
          <a:noFill/>
          <a:ln/>
        </p:spPr>
        <p:txBody>
          <a:bodyPr wrap="square" lIns="0" tIns="0" rIns="0" bIns="0" rtlCol="0" anchor="ctr"/>
          <a:lstStyle/>
          <a:p>
            <a:pPr algn="ctr" indent="0" marL="0">
              <a:buNone/>
            </a:pPr>
            <a:r>
              <a:rPr lang="en-US" sz="1250" i="1" dirty="0">
                <a:solidFill>
                  <a:srgbClr val="DCE8EE"/>
                </a:solidFill>
                <a:latin typeface="Calibri" pitchFamily="34" charset="0"/>
                <a:ea typeface="Calibri" pitchFamily="34" charset="-122"/>
                <a:cs typeface="Calibri" pitchFamily="34" charset="-120"/>
              </a:rPr>
              <a:t>addr[1:0] + length[7:2]</a:t>
            </a:r>
            <a:endParaRPr lang="en-US" sz="1250" dirty="0"/>
          </a:p>
        </p:txBody>
      </p:sp>
      <p:sp>
        <p:nvSpPr>
          <p:cNvPr id="11" name="Shape 9"/>
          <p:cNvSpPr/>
          <p:nvPr/>
        </p:nvSpPr>
        <p:spPr>
          <a:xfrm>
            <a:off x="3886200" y="2286000"/>
            <a:ext cx="4572000" cy="1371600"/>
          </a:xfrm>
          <a:prstGeom prst="roundRect">
            <a:avLst>
              <a:gd name="adj" fmla="val 5333"/>
            </a:avLst>
          </a:prstGeom>
          <a:solidFill>
            <a:srgbClr val="1C7293"/>
          </a:solidFill>
          <a:ln/>
          <a:effectLst>
            <a:outerShdw sx="100000" sy="100000" kx="0" ky="0" algn="bl" rotWithShape="0" blurRad="101600" dist="38100" dir="5400000">
              <a:srgbClr val="9AA8B5">
                <a:alpha val="35000"/>
              </a:srgbClr>
            </a:outerShdw>
          </a:effectLst>
        </p:spPr>
      </p:sp>
      <p:sp>
        <p:nvSpPr>
          <p:cNvPr id="12" name="Text 10"/>
          <p:cNvSpPr/>
          <p:nvPr/>
        </p:nvSpPr>
        <p:spPr>
          <a:xfrm>
            <a:off x="3886200" y="2514600"/>
            <a:ext cx="45720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PAYLOAD</a:t>
            </a:r>
            <a:endParaRPr lang="en-US" sz="2200" dirty="0"/>
          </a:p>
        </p:txBody>
      </p:sp>
      <p:sp>
        <p:nvSpPr>
          <p:cNvPr id="13" name="Text 11"/>
          <p:cNvSpPr/>
          <p:nvPr/>
        </p:nvSpPr>
        <p:spPr>
          <a:xfrm>
            <a:off x="3886200" y="2971800"/>
            <a:ext cx="4572000" cy="320040"/>
          </a:xfrm>
          <a:prstGeom prst="rect">
            <a:avLst/>
          </a:prstGeom>
          <a:noFill/>
          <a:ln/>
        </p:spPr>
        <p:txBody>
          <a:bodyPr wrap="square" lIns="0" tIns="0" rIns="0" bIns="0" rtlCol="0" anchor="ctr"/>
          <a:lstStyle/>
          <a:p>
            <a:pPr algn="ctr" indent="0" marL="0">
              <a:buNone/>
            </a:pPr>
            <a:r>
              <a:rPr lang="en-US" sz="1300" b="1" dirty="0">
                <a:solidFill>
                  <a:srgbClr val="EAF3F0"/>
                </a:solidFill>
                <a:latin typeface="Calibri" pitchFamily="34" charset="0"/>
                <a:ea typeface="Calibri" pitchFamily="34" charset="-122"/>
                <a:cs typeface="Calibri" pitchFamily="34" charset="-120"/>
              </a:rPr>
              <a:t>1–63 bytes</a:t>
            </a:r>
            <a:endParaRPr lang="en-US" sz="1300" dirty="0"/>
          </a:p>
        </p:txBody>
      </p:sp>
      <p:sp>
        <p:nvSpPr>
          <p:cNvPr id="14" name="Text 12"/>
          <p:cNvSpPr/>
          <p:nvPr/>
        </p:nvSpPr>
        <p:spPr>
          <a:xfrm>
            <a:off x="3886200" y="3273552"/>
            <a:ext cx="4572000" cy="320040"/>
          </a:xfrm>
          <a:prstGeom prst="rect">
            <a:avLst/>
          </a:prstGeom>
          <a:noFill/>
          <a:ln/>
        </p:spPr>
        <p:txBody>
          <a:bodyPr wrap="square" lIns="0" tIns="0" rIns="0" bIns="0" rtlCol="0" anchor="ctr"/>
          <a:lstStyle/>
          <a:p>
            <a:pPr algn="ctr" indent="0" marL="0">
              <a:buNone/>
            </a:pPr>
            <a:r>
              <a:rPr lang="en-US" sz="1250" i="1" dirty="0">
                <a:solidFill>
                  <a:srgbClr val="DCE8EE"/>
                </a:solidFill>
                <a:latin typeface="Calibri" pitchFamily="34" charset="0"/>
                <a:ea typeface="Calibri" pitchFamily="34" charset="-122"/>
                <a:cs typeface="Calibri" pitchFamily="34" charset="-120"/>
              </a:rPr>
              <a:t>the actual data</a:t>
            </a:r>
            <a:endParaRPr lang="en-US" sz="1250" dirty="0"/>
          </a:p>
        </p:txBody>
      </p:sp>
      <p:sp>
        <p:nvSpPr>
          <p:cNvPr id="15" name="Shape 13"/>
          <p:cNvSpPr/>
          <p:nvPr/>
        </p:nvSpPr>
        <p:spPr>
          <a:xfrm>
            <a:off x="8686800" y="2286000"/>
            <a:ext cx="3017520" cy="1371600"/>
          </a:xfrm>
          <a:prstGeom prst="roundRect">
            <a:avLst>
              <a:gd name="adj" fmla="val 5333"/>
            </a:avLst>
          </a:prstGeom>
          <a:solidFill>
            <a:srgbClr val="F2A65A"/>
          </a:solidFill>
          <a:ln/>
          <a:effectLst>
            <a:outerShdw sx="100000" sy="100000" kx="0" ky="0" algn="bl" rotWithShape="0" blurRad="101600" dist="38100" dir="5400000">
              <a:srgbClr val="9AA8B5">
                <a:alpha val="35000"/>
              </a:srgbClr>
            </a:outerShdw>
          </a:effectLst>
        </p:spPr>
      </p:sp>
      <p:sp>
        <p:nvSpPr>
          <p:cNvPr id="16" name="Text 14"/>
          <p:cNvSpPr/>
          <p:nvPr/>
        </p:nvSpPr>
        <p:spPr>
          <a:xfrm>
            <a:off x="8686800" y="2514600"/>
            <a:ext cx="301752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PARITY</a:t>
            </a:r>
            <a:endParaRPr lang="en-US" sz="2200" dirty="0"/>
          </a:p>
        </p:txBody>
      </p:sp>
      <p:sp>
        <p:nvSpPr>
          <p:cNvPr id="17" name="Text 15"/>
          <p:cNvSpPr/>
          <p:nvPr/>
        </p:nvSpPr>
        <p:spPr>
          <a:xfrm>
            <a:off x="8686800" y="2971800"/>
            <a:ext cx="3017520" cy="320040"/>
          </a:xfrm>
          <a:prstGeom prst="rect">
            <a:avLst/>
          </a:prstGeom>
          <a:noFill/>
          <a:ln/>
        </p:spPr>
        <p:txBody>
          <a:bodyPr wrap="square" lIns="0" tIns="0" rIns="0" bIns="0" rtlCol="0" anchor="ctr"/>
          <a:lstStyle/>
          <a:p>
            <a:pPr algn="ctr" indent="0" marL="0">
              <a:buNone/>
            </a:pPr>
            <a:r>
              <a:rPr lang="en-US" sz="1300" b="1" dirty="0">
                <a:solidFill>
                  <a:srgbClr val="EAF3F0"/>
                </a:solidFill>
                <a:latin typeface="Calibri" pitchFamily="34" charset="0"/>
                <a:ea typeface="Calibri" pitchFamily="34" charset="-122"/>
                <a:cs typeface="Calibri" pitchFamily="34" charset="-120"/>
              </a:rPr>
              <a:t>1 byte</a:t>
            </a:r>
            <a:endParaRPr lang="en-US" sz="1300" dirty="0"/>
          </a:p>
        </p:txBody>
      </p:sp>
      <p:sp>
        <p:nvSpPr>
          <p:cNvPr id="18" name="Text 16"/>
          <p:cNvSpPr/>
          <p:nvPr/>
        </p:nvSpPr>
        <p:spPr>
          <a:xfrm>
            <a:off x="8686800" y="3273552"/>
            <a:ext cx="3017520" cy="320040"/>
          </a:xfrm>
          <a:prstGeom prst="rect">
            <a:avLst/>
          </a:prstGeom>
          <a:noFill/>
          <a:ln/>
        </p:spPr>
        <p:txBody>
          <a:bodyPr wrap="square" lIns="0" tIns="0" rIns="0" bIns="0" rtlCol="0" anchor="ctr"/>
          <a:lstStyle/>
          <a:p>
            <a:pPr algn="ctr" indent="0" marL="0">
              <a:buNone/>
            </a:pPr>
            <a:r>
              <a:rPr lang="en-US" sz="1250" i="1" dirty="0">
                <a:solidFill>
                  <a:srgbClr val="DCE8EE"/>
                </a:solidFill>
                <a:latin typeface="Calibri" pitchFamily="34" charset="0"/>
                <a:ea typeface="Calibri" pitchFamily="34" charset="-122"/>
                <a:cs typeface="Calibri" pitchFamily="34" charset="-120"/>
              </a:rPr>
              <a:t>error-check byte</a:t>
            </a:r>
            <a:endParaRPr lang="en-US" sz="1250" dirty="0"/>
          </a:p>
        </p:txBody>
      </p:sp>
      <p:sp>
        <p:nvSpPr>
          <p:cNvPr id="19" name="Shape 17"/>
          <p:cNvSpPr/>
          <p:nvPr/>
        </p:nvSpPr>
        <p:spPr>
          <a:xfrm>
            <a:off x="548640" y="4114800"/>
            <a:ext cx="11064240" cy="2148840"/>
          </a:xfrm>
          <a:prstGeom prst="roundRect">
            <a:avLst>
              <a:gd name="adj" fmla="val 3830"/>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20" name="Text 18"/>
          <p:cNvSpPr/>
          <p:nvPr/>
        </p:nvSpPr>
        <p:spPr>
          <a:xfrm>
            <a:off x="868680" y="4297680"/>
            <a:ext cx="7315200" cy="320040"/>
          </a:xfrm>
          <a:prstGeom prst="rect">
            <a:avLst/>
          </a:prstGeom>
          <a:noFill/>
          <a:ln/>
        </p:spPr>
        <p:txBody>
          <a:bodyPr wrap="square" lIns="0" tIns="0" rIns="0" bIns="0" rtlCol="0" anchor="ctr"/>
          <a:lstStyle/>
          <a:p>
            <a:pPr indent="0" marL="0">
              <a:buNone/>
            </a:pPr>
            <a:r>
              <a:rPr lang="en-US" sz="1400" b="1" dirty="0">
                <a:solidFill>
                  <a:srgbClr val="1C7293"/>
                </a:solidFill>
                <a:latin typeface="Calibri" pitchFamily="34" charset="0"/>
                <a:ea typeface="Calibri" pitchFamily="34" charset="-122"/>
                <a:cs typeface="Calibri" pitchFamily="34" charset="-120"/>
              </a:rPr>
              <a:t>Inside the header byte</a:t>
            </a:r>
            <a:endParaRPr lang="en-US" sz="1400" dirty="0"/>
          </a:p>
        </p:txBody>
      </p:sp>
      <p:sp>
        <p:nvSpPr>
          <p:cNvPr id="21" name="Shape 19"/>
          <p:cNvSpPr/>
          <p:nvPr/>
        </p:nvSpPr>
        <p:spPr>
          <a:xfrm>
            <a:off x="868680" y="4709160"/>
            <a:ext cx="960120" cy="777240"/>
          </a:xfrm>
          <a:prstGeom prst="rect">
            <a:avLst/>
          </a:prstGeom>
          <a:solidFill>
            <a:srgbClr val="E8F0F6"/>
          </a:solidFill>
          <a:ln w="19050">
            <a:solidFill>
              <a:srgbClr val="065A82"/>
            </a:solidFill>
            <a:prstDash val="solid"/>
          </a:ln>
        </p:spPr>
      </p:sp>
      <p:sp>
        <p:nvSpPr>
          <p:cNvPr id="22" name="Text 20"/>
          <p:cNvSpPr/>
          <p:nvPr/>
        </p:nvSpPr>
        <p:spPr>
          <a:xfrm>
            <a:off x="868680" y="4709160"/>
            <a:ext cx="960120" cy="777240"/>
          </a:xfrm>
          <a:prstGeom prst="rect">
            <a:avLst/>
          </a:prstGeom>
          <a:noFill/>
          <a:ln/>
        </p:spPr>
        <p:txBody>
          <a:bodyPr wrap="square" lIns="0" tIns="0" rIns="0" bIns="0" rtlCol="0" anchor="ctr"/>
          <a:lstStyle/>
          <a:p>
            <a:pPr algn="ctr" indent="0" marL="0">
              <a:buNone/>
            </a:pPr>
            <a:r>
              <a:rPr lang="en-US" sz="1200" b="1" dirty="0">
                <a:solidFill>
                  <a:srgbClr val="065A82"/>
                </a:solidFill>
                <a:latin typeface="Calibri" pitchFamily="34" charset="0"/>
                <a:ea typeface="Calibri" pitchFamily="34" charset="-122"/>
                <a:cs typeface="Calibri" pitchFamily="34" charset="-120"/>
              </a:rPr>
              <a:t>bit 7</a:t>
            </a:r>
            <a:endParaRPr lang="en-US" sz="1200" dirty="0"/>
          </a:p>
        </p:txBody>
      </p:sp>
      <p:sp>
        <p:nvSpPr>
          <p:cNvPr id="23" name="Shape 21"/>
          <p:cNvSpPr/>
          <p:nvPr/>
        </p:nvSpPr>
        <p:spPr>
          <a:xfrm>
            <a:off x="1920240" y="4709160"/>
            <a:ext cx="960120" cy="777240"/>
          </a:xfrm>
          <a:prstGeom prst="rect">
            <a:avLst/>
          </a:prstGeom>
          <a:solidFill>
            <a:srgbClr val="E8F0F6"/>
          </a:solidFill>
          <a:ln w="19050">
            <a:solidFill>
              <a:srgbClr val="065A82"/>
            </a:solidFill>
            <a:prstDash val="solid"/>
          </a:ln>
        </p:spPr>
      </p:sp>
      <p:sp>
        <p:nvSpPr>
          <p:cNvPr id="24" name="Text 22"/>
          <p:cNvSpPr/>
          <p:nvPr/>
        </p:nvSpPr>
        <p:spPr>
          <a:xfrm>
            <a:off x="1920240" y="4709160"/>
            <a:ext cx="960120" cy="777240"/>
          </a:xfrm>
          <a:prstGeom prst="rect">
            <a:avLst/>
          </a:prstGeom>
          <a:noFill/>
          <a:ln/>
        </p:spPr>
        <p:txBody>
          <a:bodyPr wrap="square" lIns="0" tIns="0" rIns="0" bIns="0" rtlCol="0" anchor="ctr"/>
          <a:lstStyle/>
          <a:p>
            <a:pPr algn="ctr" indent="0" marL="0">
              <a:buNone/>
            </a:pPr>
            <a:r>
              <a:rPr lang="en-US" sz="1200" b="1" dirty="0">
                <a:solidFill>
                  <a:srgbClr val="065A82"/>
                </a:solidFill>
                <a:latin typeface="Calibri" pitchFamily="34" charset="0"/>
                <a:ea typeface="Calibri" pitchFamily="34" charset="-122"/>
                <a:cs typeface="Calibri" pitchFamily="34" charset="-120"/>
              </a:rPr>
              <a:t>bit 6</a:t>
            </a:r>
            <a:endParaRPr lang="en-US" sz="1200" dirty="0"/>
          </a:p>
        </p:txBody>
      </p:sp>
      <p:sp>
        <p:nvSpPr>
          <p:cNvPr id="25" name="Shape 23"/>
          <p:cNvSpPr/>
          <p:nvPr/>
        </p:nvSpPr>
        <p:spPr>
          <a:xfrm>
            <a:off x="2971800" y="4709160"/>
            <a:ext cx="960120" cy="777240"/>
          </a:xfrm>
          <a:prstGeom prst="rect">
            <a:avLst/>
          </a:prstGeom>
          <a:solidFill>
            <a:srgbClr val="E8F0F6"/>
          </a:solidFill>
          <a:ln w="19050">
            <a:solidFill>
              <a:srgbClr val="065A82"/>
            </a:solidFill>
            <a:prstDash val="solid"/>
          </a:ln>
        </p:spPr>
      </p:sp>
      <p:sp>
        <p:nvSpPr>
          <p:cNvPr id="26" name="Text 24"/>
          <p:cNvSpPr/>
          <p:nvPr/>
        </p:nvSpPr>
        <p:spPr>
          <a:xfrm>
            <a:off x="2971800" y="4709160"/>
            <a:ext cx="960120" cy="777240"/>
          </a:xfrm>
          <a:prstGeom prst="rect">
            <a:avLst/>
          </a:prstGeom>
          <a:noFill/>
          <a:ln/>
        </p:spPr>
        <p:txBody>
          <a:bodyPr wrap="square" lIns="0" tIns="0" rIns="0" bIns="0" rtlCol="0" anchor="ctr"/>
          <a:lstStyle/>
          <a:p>
            <a:pPr algn="ctr" indent="0" marL="0">
              <a:buNone/>
            </a:pPr>
            <a:r>
              <a:rPr lang="en-US" sz="1200" b="1" dirty="0">
                <a:solidFill>
                  <a:srgbClr val="065A82"/>
                </a:solidFill>
                <a:latin typeface="Calibri" pitchFamily="34" charset="0"/>
                <a:ea typeface="Calibri" pitchFamily="34" charset="-122"/>
                <a:cs typeface="Calibri" pitchFamily="34" charset="-120"/>
              </a:rPr>
              <a:t>bit 5</a:t>
            </a:r>
            <a:endParaRPr lang="en-US" sz="1200" dirty="0"/>
          </a:p>
        </p:txBody>
      </p:sp>
      <p:sp>
        <p:nvSpPr>
          <p:cNvPr id="27" name="Shape 25"/>
          <p:cNvSpPr/>
          <p:nvPr/>
        </p:nvSpPr>
        <p:spPr>
          <a:xfrm>
            <a:off x="4023360" y="4709160"/>
            <a:ext cx="960120" cy="777240"/>
          </a:xfrm>
          <a:prstGeom prst="rect">
            <a:avLst/>
          </a:prstGeom>
          <a:solidFill>
            <a:srgbClr val="E8F0F6"/>
          </a:solidFill>
          <a:ln w="19050">
            <a:solidFill>
              <a:srgbClr val="065A82"/>
            </a:solidFill>
            <a:prstDash val="solid"/>
          </a:ln>
        </p:spPr>
      </p:sp>
      <p:sp>
        <p:nvSpPr>
          <p:cNvPr id="28" name="Text 26"/>
          <p:cNvSpPr/>
          <p:nvPr/>
        </p:nvSpPr>
        <p:spPr>
          <a:xfrm>
            <a:off x="4023360" y="4709160"/>
            <a:ext cx="960120" cy="777240"/>
          </a:xfrm>
          <a:prstGeom prst="rect">
            <a:avLst/>
          </a:prstGeom>
          <a:noFill/>
          <a:ln/>
        </p:spPr>
        <p:txBody>
          <a:bodyPr wrap="square" lIns="0" tIns="0" rIns="0" bIns="0" rtlCol="0" anchor="ctr"/>
          <a:lstStyle/>
          <a:p>
            <a:pPr algn="ctr" indent="0" marL="0">
              <a:buNone/>
            </a:pPr>
            <a:r>
              <a:rPr lang="en-US" sz="1200" b="1" dirty="0">
                <a:solidFill>
                  <a:srgbClr val="065A82"/>
                </a:solidFill>
                <a:latin typeface="Calibri" pitchFamily="34" charset="0"/>
                <a:ea typeface="Calibri" pitchFamily="34" charset="-122"/>
                <a:cs typeface="Calibri" pitchFamily="34" charset="-120"/>
              </a:rPr>
              <a:t>bit 4</a:t>
            </a:r>
            <a:endParaRPr lang="en-US" sz="1200" dirty="0"/>
          </a:p>
        </p:txBody>
      </p:sp>
      <p:sp>
        <p:nvSpPr>
          <p:cNvPr id="29" name="Shape 27"/>
          <p:cNvSpPr/>
          <p:nvPr/>
        </p:nvSpPr>
        <p:spPr>
          <a:xfrm>
            <a:off x="5074920" y="4709160"/>
            <a:ext cx="960120" cy="777240"/>
          </a:xfrm>
          <a:prstGeom prst="rect">
            <a:avLst/>
          </a:prstGeom>
          <a:solidFill>
            <a:srgbClr val="E8F0F6"/>
          </a:solidFill>
          <a:ln w="19050">
            <a:solidFill>
              <a:srgbClr val="065A82"/>
            </a:solidFill>
            <a:prstDash val="solid"/>
          </a:ln>
        </p:spPr>
      </p:sp>
      <p:sp>
        <p:nvSpPr>
          <p:cNvPr id="30" name="Text 28"/>
          <p:cNvSpPr/>
          <p:nvPr/>
        </p:nvSpPr>
        <p:spPr>
          <a:xfrm>
            <a:off x="5074920" y="4709160"/>
            <a:ext cx="960120" cy="777240"/>
          </a:xfrm>
          <a:prstGeom prst="rect">
            <a:avLst/>
          </a:prstGeom>
          <a:noFill/>
          <a:ln/>
        </p:spPr>
        <p:txBody>
          <a:bodyPr wrap="square" lIns="0" tIns="0" rIns="0" bIns="0" rtlCol="0" anchor="ctr"/>
          <a:lstStyle/>
          <a:p>
            <a:pPr algn="ctr" indent="0" marL="0">
              <a:buNone/>
            </a:pPr>
            <a:r>
              <a:rPr lang="en-US" sz="1200" b="1" dirty="0">
                <a:solidFill>
                  <a:srgbClr val="065A82"/>
                </a:solidFill>
                <a:latin typeface="Calibri" pitchFamily="34" charset="0"/>
                <a:ea typeface="Calibri" pitchFamily="34" charset="-122"/>
                <a:cs typeface="Calibri" pitchFamily="34" charset="-120"/>
              </a:rPr>
              <a:t>bit 3</a:t>
            </a:r>
            <a:endParaRPr lang="en-US" sz="1200" dirty="0"/>
          </a:p>
        </p:txBody>
      </p:sp>
      <p:sp>
        <p:nvSpPr>
          <p:cNvPr id="31" name="Shape 29"/>
          <p:cNvSpPr/>
          <p:nvPr/>
        </p:nvSpPr>
        <p:spPr>
          <a:xfrm>
            <a:off x="6126480" y="4709160"/>
            <a:ext cx="960120" cy="777240"/>
          </a:xfrm>
          <a:prstGeom prst="rect">
            <a:avLst/>
          </a:prstGeom>
          <a:solidFill>
            <a:srgbClr val="E8F0F6"/>
          </a:solidFill>
          <a:ln w="19050">
            <a:solidFill>
              <a:srgbClr val="065A82"/>
            </a:solidFill>
            <a:prstDash val="solid"/>
          </a:ln>
        </p:spPr>
      </p:sp>
      <p:sp>
        <p:nvSpPr>
          <p:cNvPr id="32" name="Text 30"/>
          <p:cNvSpPr/>
          <p:nvPr/>
        </p:nvSpPr>
        <p:spPr>
          <a:xfrm>
            <a:off x="6126480" y="4709160"/>
            <a:ext cx="960120" cy="777240"/>
          </a:xfrm>
          <a:prstGeom prst="rect">
            <a:avLst/>
          </a:prstGeom>
          <a:noFill/>
          <a:ln/>
        </p:spPr>
        <p:txBody>
          <a:bodyPr wrap="square" lIns="0" tIns="0" rIns="0" bIns="0" rtlCol="0" anchor="ctr"/>
          <a:lstStyle/>
          <a:p>
            <a:pPr algn="ctr" indent="0" marL="0">
              <a:buNone/>
            </a:pPr>
            <a:r>
              <a:rPr lang="en-US" sz="1200" b="1" dirty="0">
                <a:solidFill>
                  <a:srgbClr val="065A82"/>
                </a:solidFill>
                <a:latin typeface="Calibri" pitchFamily="34" charset="0"/>
                <a:ea typeface="Calibri" pitchFamily="34" charset="-122"/>
                <a:cs typeface="Calibri" pitchFamily="34" charset="-120"/>
              </a:rPr>
              <a:t>bit 2</a:t>
            </a:r>
            <a:endParaRPr lang="en-US" sz="1200" dirty="0"/>
          </a:p>
        </p:txBody>
      </p:sp>
      <p:sp>
        <p:nvSpPr>
          <p:cNvPr id="33" name="Shape 31"/>
          <p:cNvSpPr/>
          <p:nvPr/>
        </p:nvSpPr>
        <p:spPr>
          <a:xfrm>
            <a:off x="7178040" y="4709160"/>
            <a:ext cx="960120" cy="777240"/>
          </a:xfrm>
          <a:prstGeom prst="rect">
            <a:avLst/>
          </a:prstGeom>
          <a:solidFill>
            <a:srgbClr val="E7F8F3"/>
          </a:solidFill>
          <a:ln w="19050">
            <a:solidFill>
              <a:srgbClr val="02C39A"/>
            </a:solidFill>
            <a:prstDash val="solid"/>
          </a:ln>
        </p:spPr>
      </p:sp>
      <p:sp>
        <p:nvSpPr>
          <p:cNvPr id="34" name="Text 32"/>
          <p:cNvSpPr/>
          <p:nvPr/>
        </p:nvSpPr>
        <p:spPr>
          <a:xfrm>
            <a:off x="7178040" y="4709160"/>
            <a:ext cx="960120" cy="777240"/>
          </a:xfrm>
          <a:prstGeom prst="rect">
            <a:avLst/>
          </a:prstGeom>
          <a:noFill/>
          <a:ln/>
        </p:spPr>
        <p:txBody>
          <a:bodyPr wrap="square" lIns="0" tIns="0" rIns="0" bIns="0" rtlCol="0" anchor="ctr"/>
          <a:lstStyle/>
          <a:p>
            <a:pPr algn="ctr" indent="0" marL="0">
              <a:buNone/>
            </a:pPr>
            <a:r>
              <a:rPr lang="en-US" sz="1200" b="1" dirty="0">
                <a:solidFill>
                  <a:srgbClr val="02C39A"/>
                </a:solidFill>
                <a:latin typeface="Calibri" pitchFamily="34" charset="0"/>
                <a:ea typeface="Calibri" pitchFamily="34" charset="-122"/>
                <a:cs typeface="Calibri" pitchFamily="34" charset="-120"/>
              </a:rPr>
              <a:t>bit 1</a:t>
            </a:r>
            <a:endParaRPr lang="en-US" sz="1200" dirty="0"/>
          </a:p>
        </p:txBody>
      </p:sp>
      <p:sp>
        <p:nvSpPr>
          <p:cNvPr id="35" name="Shape 33"/>
          <p:cNvSpPr/>
          <p:nvPr/>
        </p:nvSpPr>
        <p:spPr>
          <a:xfrm>
            <a:off x="8229600" y="4709160"/>
            <a:ext cx="960120" cy="777240"/>
          </a:xfrm>
          <a:prstGeom prst="rect">
            <a:avLst/>
          </a:prstGeom>
          <a:solidFill>
            <a:srgbClr val="E7F8F3"/>
          </a:solidFill>
          <a:ln w="19050">
            <a:solidFill>
              <a:srgbClr val="02C39A"/>
            </a:solidFill>
            <a:prstDash val="solid"/>
          </a:ln>
        </p:spPr>
      </p:sp>
      <p:sp>
        <p:nvSpPr>
          <p:cNvPr id="36" name="Text 34"/>
          <p:cNvSpPr/>
          <p:nvPr/>
        </p:nvSpPr>
        <p:spPr>
          <a:xfrm>
            <a:off x="8229600" y="4709160"/>
            <a:ext cx="960120" cy="777240"/>
          </a:xfrm>
          <a:prstGeom prst="rect">
            <a:avLst/>
          </a:prstGeom>
          <a:noFill/>
          <a:ln/>
        </p:spPr>
        <p:txBody>
          <a:bodyPr wrap="square" lIns="0" tIns="0" rIns="0" bIns="0" rtlCol="0" anchor="ctr"/>
          <a:lstStyle/>
          <a:p>
            <a:pPr algn="ctr" indent="0" marL="0">
              <a:buNone/>
            </a:pPr>
            <a:r>
              <a:rPr lang="en-US" sz="1200" b="1" dirty="0">
                <a:solidFill>
                  <a:srgbClr val="02C39A"/>
                </a:solidFill>
                <a:latin typeface="Calibri" pitchFamily="34" charset="0"/>
                <a:ea typeface="Calibri" pitchFamily="34" charset="-122"/>
                <a:cs typeface="Calibri" pitchFamily="34" charset="-120"/>
              </a:rPr>
              <a:t>bit 0</a:t>
            </a:r>
            <a:endParaRPr lang="en-US" sz="1200" dirty="0"/>
          </a:p>
        </p:txBody>
      </p:sp>
      <p:sp>
        <p:nvSpPr>
          <p:cNvPr id="37" name="Text 35"/>
          <p:cNvSpPr/>
          <p:nvPr/>
        </p:nvSpPr>
        <p:spPr>
          <a:xfrm>
            <a:off x="868680" y="5623560"/>
            <a:ext cx="6035040" cy="320040"/>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length  [7:2]  — how many payload bytes</a:t>
            </a:r>
            <a:endParaRPr lang="en-US" sz="1250" dirty="0"/>
          </a:p>
        </p:txBody>
      </p:sp>
      <p:sp>
        <p:nvSpPr>
          <p:cNvPr id="38" name="Text 36"/>
          <p:cNvSpPr/>
          <p:nvPr/>
        </p:nvSpPr>
        <p:spPr>
          <a:xfrm>
            <a:off x="7178040" y="5623560"/>
            <a:ext cx="3931920" cy="320040"/>
          </a:xfrm>
          <a:prstGeom prst="rect">
            <a:avLst/>
          </a:prstGeom>
          <a:noFill/>
          <a:ln/>
        </p:spPr>
        <p:txBody>
          <a:bodyPr wrap="square" lIns="0" tIns="0" rIns="0" bIns="0" rtlCol="0" anchor="ctr"/>
          <a:lstStyle/>
          <a:p>
            <a:pPr indent="0" marL="0">
              <a:buNone/>
            </a:pPr>
            <a:r>
              <a:rPr lang="en-US" sz="1250" b="1" dirty="0">
                <a:solidFill>
                  <a:srgbClr val="02C39A"/>
                </a:solidFill>
                <a:latin typeface="Calibri" pitchFamily="34" charset="0"/>
                <a:ea typeface="Calibri" pitchFamily="34" charset="-122"/>
                <a:cs typeface="Calibri" pitchFamily="34" charset="-120"/>
              </a:rPr>
              <a:t>addr [1:0] — destination channel</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48640" y="640080"/>
            <a:ext cx="1042416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Five blocks working together</a:t>
            </a:r>
            <a:endParaRPr lang="en-US" sz="3000" dirty="0"/>
          </a:p>
        </p:txBody>
      </p:sp>
      <p:sp>
        <p:nvSpPr>
          <p:cNvPr id="4" name="Shape 2"/>
          <p:cNvSpPr/>
          <p:nvPr/>
        </p:nvSpPr>
        <p:spPr>
          <a:xfrm>
            <a:off x="11292840" y="457200"/>
            <a:ext cx="502920" cy="502920"/>
          </a:xfrm>
          <a:prstGeom prst="ellipse">
            <a:avLst/>
          </a:prstGeom>
          <a:solidFill>
            <a:srgbClr val="21295C"/>
          </a:solidFill>
          <a:ln/>
        </p:spPr>
      </p:sp>
      <p:sp>
        <p:nvSpPr>
          <p:cNvPr id="5" name="Text 3"/>
          <p:cNvSpPr/>
          <p:nvPr/>
        </p:nvSpPr>
        <p:spPr>
          <a:xfrm>
            <a:off x="112928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6" name="Text 4"/>
          <p:cNvSpPr/>
          <p:nvPr/>
        </p:nvSpPr>
        <p:spPr>
          <a:xfrm>
            <a:off x="548640" y="1463040"/>
            <a:ext cx="10972800" cy="457200"/>
          </a:xfrm>
          <a:prstGeom prst="rect">
            <a:avLst/>
          </a:prstGeom>
          <a:noFill/>
          <a:ln/>
        </p:spPr>
        <p:txBody>
          <a:bodyPr wrap="square" lIns="0" tIns="0" rIns="0" bIns="0" rtlCol="0" anchor="ctr"/>
          <a:lstStyle/>
          <a:p>
            <a:pPr indent="0" marL="0">
              <a:buNone/>
            </a:pPr>
            <a:r>
              <a:rPr lang="en-US" sz="1500" i="1" dirty="0">
                <a:solidFill>
                  <a:srgbClr val="5B6B7B"/>
                </a:solidFill>
                <a:latin typeface="Calibri" pitchFamily="34" charset="0"/>
                <a:ea typeface="Calibri" pitchFamily="34" charset="-122"/>
                <a:cs typeface="Calibri" pitchFamily="34" charset="-120"/>
              </a:rPr>
              <a:t>router_top just wires these five sub-modules together — no logic of its own (structural design).</a:t>
            </a:r>
            <a:endParaRPr lang="en-US" sz="1500" dirty="0"/>
          </a:p>
        </p:txBody>
      </p:sp>
      <p:sp>
        <p:nvSpPr>
          <p:cNvPr id="7" name="Shape 5"/>
          <p:cNvSpPr/>
          <p:nvPr/>
        </p:nvSpPr>
        <p:spPr>
          <a:xfrm>
            <a:off x="548640" y="2148840"/>
            <a:ext cx="2926080" cy="1417320"/>
          </a:xfrm>
          <a:prstGeom prst="roundRect">
            <a:avLst>
              <a:gd name="adj" fmla="val 5161"/>
            </a:avLst>
          </a:prstGeom>
          <a:solidFill>
            <a:srgbClr val="065A82"/>
          </a:solidFill>
          <a:ln/>
          <a:effectLst>
            <a:outerShdw sx="100000" sy="100000" kx="0" ky="0" algn="bl" rotWithShape="0" blurRad="101600" dist="38100" dir="5400000">
              <a:srgbClr val="9AA8B5">
                <a:alpha val="35000"/>
              </a:srgbClr>
            </a:outerShdw>
          </a:effectLst>
        </p:spPr>
      </p:sp>
      <p:sp>
        <p:nvSpPr>
          <p:cNvPr id="8" name="Text 6"/>
          <p:cNvSpPr/>
          <p:nvPr/>
        </p:nvSpPr>
        <p:spPr>
          <a:xfrm>
            <a:off x="548640" y="2258568"/>
            <a:ext cx="29260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router_reg</a:t>
            </a:r>
            <a:endParaRPr lang="en-US" sz="1500" dirty="0"/>
          </a:p>
        </p:txBody>
      </p:sp>
      <p:sp>
        <p:nvSpPr>
          <p:cNvPr id="9" name="Text 7"/>
          <p:cNvSpPr/>
          <p:nvPr/>
        </p:nvSpPr>
        <p:spPr>
          <a:xfrm>
            <a:off x="640080" y="2651760"/>
            <a:ext cx="2743200" cy="868680"/>
          </a:xfrm>
          <a:prstGeom prst="rect">
            <a:avLst/>
          </a:prstGeom>
          <a:noFill/>
          <a:ln/>
        </p:spPr>
        <p:txBody>
          <a:bodyPr wrap="square" lIns="0" tIns="0" rIns="0" bIns="0" rtlCol="0" anchor="t"/>
          <a:lstStyle/>
          <a:p>
            <a:pPr algn="ctr" indent="0" marL="0">
              <a:lnSpc>
                <a:spcPct val="105000"/>
              </a:lnSpc>
              <a:buNone/>
            </a:pPr>
            <a:r>
              <a:rPr lang="en-US" sz="1150" dirty="0">
                <a:solidFill>
                  <a:srgbClr val="EAF2F7"/>
                </a:solidFill>
                <a:latin typeface="Calibri" pitchFamily="34" charset="0"/>
                <a:ea typeface="Calibri" pitchFamily="34" charset="-122"/>
                <a:cs typeface="Calibri" pitchFamily="34" charset="-120"/>
              </a:rPr>
              <a:t>Builds the datapath byte:</a:t>
            </a:r>
            <a:endParaRPr lang="en-US" sz="1150" dirty="0"/>
          </a:p>
          <a:p>
            <a:pPr algn="ctr" indent="0" marL="0">
              <a:lnSpc>
                <a:spcPct val="105000"/>
              </a:lnSpc>
              <a:buNone/>
            </a:pPr>
            <a:r>
              <a:rPr lang="en-US" sz="1150" dirty="0">
                <a:solidFill>
                  <a:srgbClr val="EAF2F7"/>
                </a:solidFill>
                <a:latin typeface="Calibri" pitchFamily="34" charset="0"/>
                <a:ea typeface="Calibri" pitchFamily="34" charset="-122"/>
                <a:cs typeface="Calibri" pitchFamily="34" charset="-120"/>
              </a:rPr>
              <a:t>parity gen + error check</a:t>
            </a:r>
            <a:endParaRPr lang="en-US" sz="1150" dirty="0"/>
          </a:p>
        </p:txBody>
      </p:sp>
      <p:sp>
        <p:nvSpPr>
          <p:cNvPr id="10" name="Shape 8"/>
          <p:cNvSpPr/>
          <p:nvPr/>
        </p:nvSpPr>
        <p:spPr>
          <a:xfrm>
            <a:off x="3977640" y="2148840"/>
            <a:ext cx="2926080" cy="1417320"/>
          </a:xfrm>
          <a:prstGeom prst="roundRect">
            <a:avLst>
              <a:gd name="adj" fmla="val 5161"/>
            </a:avLst>
          </a:prstGeom>
          <a:solidFill>
            <a:srgbClr val="02C39A"/>
          </a:solidFill>
          <a:ln/>
          <a:effectLst>
            <a:outerShdw sx="100000" sy="100000" kx="0" ky="0" algn="bl" rotWithShape="0" blurRad="101600" dist="38100" dir="5400000">
              <a:srgbClr val="9AA8B5">
                <a:alpha val="35000"/>
              </a:srgbClr>
            </a:outerShdw>
          </a:effectLst>
        </p:spPr>
      </p:sp>
      <p:sp>
        <p:nvSpPr>
          <p:cNvPr id="11" name="Text 9"/>
          <p:cNvSpPr/>
          <p:nvPr/>
        </p:nvSpPr>
        <p:spPr>
          <a:xfrm>
            <a:off x="3977640" y="2258568"/>
            <a:ext cx="29260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router_fsm</a:t>
            </a:r>
            <a:endParaRPr lang="en-US" sz="1500" dirty="0"/>
          </a:p>
        </p:txBody>
      </p:sp>
      <p:sp>
        <p:nvSpPr>
          <p:cNvPr id="12" name="Text 10"/>
          <p:cNvSpPr/>
          <p:nvPr/>
        </p:nvSpPr>
        <p:spPr>
          <a:xfrm>
            <a:off x="4069080" y="2651760"/>
            <a:ext cx="2743200" cy="868680"/>
          </a:xfrm>
          <a:prstGeom prst="rect">
            <a:avLst/>
          </a:prstGeom>
          <a:noFill/>
          <a:ln/>
        </p:spPr>
        <p:txBody>
          <a:bodyPr wrap="square" lIns="0" tIns="0" rIns="0" bIns="0" rtlCol="0" anchor="t"/>
          <a:lstStyle/>
          <a:p>
            <a:pPr algn="ctr" indent="0" marL="0">
              <a:lnSpc>
                <a:spcPct val="105000"/>
              </a:lnSpc>
              <a:buNone/>
            </a:pPr>
            <a:r>
              <a:rPr lang="en-US" sz="1150" dirty="0">
                <a:solidFill>
                  <a:srgbClr val="EAF2F7"/>
                </a:solidFill>
                <a:latin typeface="Calibri" pitchFamily="34" charset="0"/>
                <a:ea typeface="Calibri" pitchFamily="34" charset="-122"/>
                <a:cs typeface="Calibri" pitchFamily="34" charset="-120"/>
              </a:rPr>
              <a:t>The brain — 8-state</a:t>
            </a:r>
            <a:endParaRPr lang="en-US" sz="1150" dirty="0"/>
          </a:p>
          <a:p>
            <a:pPr algn="ctr" indent="0" marL="0">
              <a:lnSpc>
                <a:spcPct val="105000"/>
              </a:lnSpc>
              <a:buNone/>
            </a:pPr>
            <a:r>
              <a:rPr lang="en-US" sz="1150" dirty="0">
                <a:solidFill>
                  <a:srgbClr val="EAF2F7"/>
                </a:solidFill>
                <a:latin typeface="Calibri" pitchFamily="34" charset="0"/>
                <a:ea typeface="Calibri" pitchFamily="34" charset="-122"/>
                <a:cs typeface="Calibri" pitchFamily="34" charset="-120"/>
              </a:rPr>
              <a:t>controller, all timing</a:t>
            </a:r>
            <a:endParaRPr lang="en-US" sz="1150" dirty="0"/>
          </a:p>
        </p:txBody>
      </p:sp>
      <p:sp>
        <p:nvSpPr>
          <p:cNvPr id="13" name="Shape 11"/>
          <p:cNvSpPr/>
          <p:nvPr/>
        </p:nvSpPr>
        <p:spPr>
          <a:xfrm>
            <a:off x="7406640" y="2148840"/>
            <a:ext cx="2926080" cy="1417320"/>
          </a:xfrm>
          <a:prstGeom prst="roundRect">
            <a:avLst>
              <a:gd name="adj" fmla="val 5161"/>
            </a:avLst>
          </a:prstGeom>
          <a:solidFill>
            <a:srgbClr val="1C7293"/>
          </a:solidFill>
          <a:ln/>
          <a:effectLst>
            <a:outerShdw sx="100000" sy="100000" kx="0" ky="0" algn="bl" rotWithShape="0" blurRad="101600" dist="38100" dir="5400000">
              <a:srgbClr val="9AA8B5">
                <a:alpha val="35000"/>
              </a:srgbClr>
            </a:outerShdw>
          </a:effectLst>
        </p:spPr>
      </p:sp>
      <p:sp>
        <p:nvSpPr>
          <p:cNvPr id="14" name="Text 12"/>
          <p:cNvSpPr/>
          <p:nvPr/>
        </p:nvSpPr>
        <p:spPr>
          <a:xfrm>
            <a:off x="7406640" y="2258568"/>
            <a:ext cx="29260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router_sync</a:t>
            </a:r>
            <a:endParaRPr lang="en-US" sz="1500" dirty="0"/>
          </a:p>
        </p:txBody>
      </p:sp>
      <p:sp>
        <p:nvSpPr>
          <p:cNvPr id="15" name="Text 13"/>
          <p:cNvSpPr/>
          <p:nvPr/>
        </p:nvSpPr>
        <p:spPr>
          <a:xfrm>
            <a:off x="7498080" y="2651760"/>
            <a:ext cx="2743200" cy="868680"/>
          </a:xfrm>
          <a:prstGeom prst="rect">
            <a:avLst/>
          </a:prstGeom>
          <a:noFill/>
          <a:ln/>
        </p:spPr>
        <p:txBody>
          <a:bodyPr wrap="square" lIns="0" tIns="0" rIns="0" bIns="0" rtlCol="0" anchor="t"/>
          <a:lstStyle/>
          <a:p>
            <a:pPr algn="ctr" indent="0" marL="0">
              <a:lnSpc>
                <a:spcPct val="105000"/>
              </a:lnSpc>
              <a:buNone/>
            </a:pPr>
            <a:r>
              <a:rPr lang="en-US" sz="1150" dirty="0">
                <a:solidFill>
                  <a:srgbClr val="EAF2F7"/>
                </a:solidFill>
                <a:latin typeface="Calibri" pitchFamily="34" charset="0"/>
                <a:ea typeface="Calibri" pitchFamily="34" charset="-122"/>
                <a:cs typeface="Calibri" pitchFamily="34" charset="-120"/>
              </a:rPr>
              <a:t>Routes write enables +</a:t>
            </a:r>
            <a:endParaRPr lang="en-US" sz="1150" dirty="0"/>
          </a:p>
          <a:p>
            <a:pPr algn="ctr" indent="0" marL="0">
              <a:lnSpc>
                <a:spcPct val="105000"/>
              </a:lnSpc>
              <a:buNone/>
            </a:pPr>
            <a:r>
              <a:rPr lang="en-US" sz="1150" dirty="0">
                <a:solidFill>
                  <a:srgbClr val="EAF2F7"/>
                </a:solidFill>
                <a:latin typeface="Calibri" pitchFamily="34" charset="0"/>
                <a:ea typeface="Calibri" pitchFamily="34" charset="-122"/>
                <a:cs typeface="Calibri" pitchFamily="34" charset="-120"/>
              </a:rPr>
              <a:t>soft-reset timeout</a:t>
            </a:r>
            <a:endParaRPr lang="en-US" sz="1150" dirty="0"/>
          </a:p>
        </p:txBody>
      </p:sp>
      <p:sp>
        <p:nvSpPr>
          <p:cNvPr id="16" name="Shape 14"/>
          <p:cNvSpPr/>
          <p:nvPr/>
        </p:nvSpPr>
        <p:spPr>
          <a:xfrm>
            <a:off x="1371600" y="4160520"/>
            <a:ext cx="2743200" cy="1371600"/>
          </a:xfrm>
          <a:prstGeom prst="roundRect">
            <a:avLst>
              <a:gd name="adj" fmla="val 5333"/>
            </a:avLst>
          </a:prstGeom>
          <a:solidFill>
            <a:srgbClr val="3C6E91"/>
          </a:solidFill>
          <a:ln/>
          <a:effectLst>
            <a:outerShdw sx="100000" sy="100000" kx="0" ky="0" algn="bl" rotWithShape="0" blurRad="101600" dist="38100" dir="5400000">
              <a:srgbClr val="9AA8B5">
                <a:alpha val="35000"/>
              </a:srgbClr>
            </a:outerShdw>
          </a:effectLst>
        </p:spPr>
      </p:sp>
      <p:sp>
        <p:nvSpPr>
          <p:cNvPr id="17" name="Text 15"/>
          <p:cNvSpPr/>
          <p:nvPr/>
        </p:nvSpPr>
        <p:spPr>
          <a:xfrm>
            <a:off x="1371600" y="4270248"/>
            <a:ext cx="274320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FIFO_0</a:t>
            </a:r>
            <a:endParaRPr lang="en-US" sz="1500" dirty="0"/>
          </a:p>
        </p:txBody>
      </p:sp>
      <p:sp>
        <p:nvSpPr>
          <p:cNvPr id="18" name="Text 16"/>
          <p:cNvSpPr/>
          <p:nvPr/>
        </p:nvSpPr>
        <p:spPr>
          <a:xfrm>
            <a:off x="1463040" y="4663440"/>
            <a:ext cx="2560320" cy="822960"/>
          </a:xfrm>
          <a:prstGeom prst="rect">
            <a:avLst/>
          </a:prstGeom>
          <a:noFill/>
          <a:ln/>
        </p:spPr>
        <p:txBody>
          <a:bodyPr wrap="square" lIns="0" tIns="0" rIns="0" bIns="0" rtlCol="0" anchor="t"/>
          <a:lstStyle/>
          <a:p>
            <a:pPr algn="ctr" indent="0" marL="0">
              <a:lnSpc>
                <a:spcPct val="105000"/>
              </a:lnSpc>
              <a:buNone/>
            </a:pPr>
            <a:r>
              <a:rPr lang="en-US" sz="1150" dirty="0">
                <a:solidFill>
                  <a:srgbClr val="EAF2F7"/>
                </a:solidFill>
                <a:latin typeface="Calibri" pitchFamily="34" charset="0"/>
                <a:ea typeface="Calibri" pitchFamily="34" charset="-122"/>
                <a:cs typeface="Calibri" pitchFamily="34" charset="-120"/>
              </a:rPr>
              <a:t>16×9 buffer</a:t>
            </a:r>
            <a:endParaRPr lang="en-US" sz="1150" dirty="0"/>
          </a:p>
          <a:p>
            <a:pPr algn="ctr" indent="0" marL="0">
              <a:lnSpc>
                <a:spcPct val="105000"/>
              </a:lnSpc>
              <a:buNone/>
            </a:pPr>
            <a:r>
              <a:rPr lang="en-US" sz="1150" dirty="0">
                <a:solidFill>
                  <a:srgbClr val="EAF2F7"/>
                </a:solidFill>
                <a:latin typeface="Calibri" pitchFamily="34" charset="0"/>
                <a:ea typeface="Calibri" pitchFamily="34" charset="-122"/>
                <a:cs typeface="Calibri" pitchFamily="34" charset="-120"/>
              </a:rPr>
              <a:t>channel 0</a:t>
            </a:r>
            <a:endParaRPr lang="en-US" sz="1150" dirty="0"/>
          </a:p>
        </p:txBody>
      </p:sp>
      <p:sp>
        <p:nvSpPr>
          <p:cNvPr id="19" name="Shape 17"/>
          <p:cNvSpPr/>
          <p:nvPr/>
        </p:nvSpPr>
        <p:spPr>
          <a:xfrm>
            <a:off x="4709160" y="4160520"/>
            <a:ext cx="2743200" cy="1371600"/>
          </a:xfrm>
          <a:prstGeom prst="roundRect">
            <a:avLst>
              <a:gd name="adj" fmla="val 5333"/>
            </a:avLst>
          </a:prstGeom>
          <a:solidFill>
            <a:srgbClr val="3C6E91"/>
          </a:solidFill>
          <a:ln/>
          <a:effectLst>
            <a:outerShdw sx="100000" sy="100000" kx="0" ky="0" algn="bl" rotWithShape="0" blurRad="101600" dist="38100" dir="5400000">
              <a:srgbClr val="9AA8B5">
                <a:alpha val="35000"/>
              </a:srgbClr>
            </a:outerShdw>
          </a:effectLst>
        </p:spPr>
      </p:sp>
      <p:sp>
        <p:nvSpPr>
          <p:cNvPr id="20" name="Text 18"/>
          <p:cNvSpPr/>
          <p:nvPr/>
        </p:nvSpPr>
        <p:spPr>
          <a:xfrm>
            <a:off x="4709160" y="4270248"/>
            <a:ext cx="274320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FIFO_1</a:t>
            </a:r>
            <a:endParaRPr lang="en-US" sz="1500" dirty="0"/>
          </a:p>
        </p:txBody>
      </p:sp>
      <p:sp>
        <p:nvSpPr>
          <p:cNvPr id="21" name="Text 19"/>
          <p:cNvSpPr/>
          <p:nvPr/>
        </p:nvSpPr>
        <p:spPr>
          <a:xfrm>
            <a:off x="4800600" y="4663440"/>
            <a:ext cx="2560320" cy="822960"/>
          </a:xfrm>
          <a:prstGeom prst="rect">
            <a:avLst/>
          </a:prstGeom>
          <a:noFill/>
          <a:ln/>
        </p:spPr>
        <p:txBody>
          <a:bodyPr wrap="square" lIns="0" tIns="0" rIns="0" bIns="0" rtlCol="0" anchor="t"/>
          <a:lstStyle/>
          <a:p>
            <a:pPr algn="ctr" indent="0" marL="0">
              <a:lnSpc>
                <a:spcPct val="105000"/>
              </a:lnSpc>
              <a:buNone/>
            </a:pPr>
            <a:r>
              <a:rPr lang="en-US" sz="1150" dirty="0">
                <a:solidFill>
                  <a:srgbClr val="EAF2F7"/>
                </a:solidFill>
                <a:latin typeface="Calibri" pitchFamily="34" charset="0"/>
                <a:ea typeface="Calibri" pitchFamily="34" charset="-122"/>
                <a:cs typeface="Calibri" pitchFamily="34" charset="-120"/>
              </a:rPr>
              <a:t>16×9 buffer</a:t>
            </a:r>
            <a:endParaRPr lang="en-US" sz="1150" dirty="0"/>
          </a:p>
          <a:p>
            <a:pPr algn="ctr" indent="0" marL="0">
              <a:lnSpc>
                <a:spcPct val="105000"/>
              </a:lnSpc>
              <a:buNone/>
            </a:pPr>
            <a:r>
              <a:rPr lang="en-US" sz="1150" dirty="0">
                <a:solidFill>
                  <a:srgbClr val="EAF2F7"/>
                </a:solidFill>
                <a:latin typeface="Calibri" pitchFamily="34" charset="0"/>
                <a:ea typeface="Calibri" pitchFamily="34" charset="-122"/>
                <a:cs typeface="Calibri" pitchFamily="34" charset="-120"/>
              </a:rPr>
              <a:t>channel 1</a:t>
            </a:r>
            <a:endParaRPr lang="en-US" sz="1150" dirty="0"/>
          </a:p>
        </p:txBody>
      </p:sp>
      <p:sp>
        <p:nvSpPr>
          <p:cNvPr id="22" name="Shape 20"/>
          <p:cNvSpPr/>
          <p:nvPr/>
        </p:nvSpPr>
        <p:spPr>
          <a:xfrm>
            <a:off x="8046720" y="4160520"/>
            <a:ext cx="2743200" cy="1371600"/>
          </a:xfrm>
          <a:prstGeom prst="roundRect">
            <a:avLst>
              <a:gd name="adj" fmla="val 5333"/>
            </a:avLst>
          </a:prstGeom>
          <a:solidFill>
            <a:srgbClr val="3C6E91"/>
          </a:solidFill>
          <a:ln/>
          <a:effectLst>
            <a:outerShdw sx="100000" sy="100000" kx="0" ky="0" algn="bl" rotWithShape="0" blurRad="101600" dist="38100" dir="5400000">
              <a:srgbClr val="9AA8B5">
                <a:alpha val="35000"/>
              </a:srgbClr>
            </a:outerShdw>
          </a:effectLst>
        </p:spPr>
      </p:sp>
      <p:sp>
        <p:nvSpPr>
          <p:cNvPr id="23" name="Text 21"/>
          <p:cNvSpPr/>
          <p:nvPr/>
        </p:nvSpPr>
        <p:spPr>
          <a:xfrm>
            <a:off x="8046720" y="4270248"/>
            <a:ext cx="274320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FIFO_2</a:t>
            </a:r>
            <a:endParaRPr lang="en-US" sz="1500" dirty="0"/>
          </a:p>
        </p:txBody>
      </p:sp>
      <p:sp>
        <p:nvSpPr>
          <p:cNvPr id="24" name="Text 22"/>
          <p:cNvSpPr/>
          <p:nvPr/>
        </p:nvSpPr>
        <p:spPr>
          <a:xfrm>
            <a:off x="8138160" y="4663440"/>
            <a:ext cx="2560320" cy="822960"/>
          </a:xfrm>
          <a:prstGeom prst="rect">
            <a:avLst/>
          </a:prstGeom>
          <a:noFill/>
          <a:ln/>
        </p:spPr>
        <p:txBody>
          <a:bodyPr wrap="square" lIns="0" tIns="0" rIns="0" bIns="0" rtlCol="0" anchor="t"/>
          <a:lstStyle/>
          <a:p>
            <a:pPr algn="ctr" indent="0" marL="0">
              <a:lnSpc>
                <a:spcPct val="105000"/>
              </a:lnSpc>
              <a:buNone/>
            </a:pPr>
            <a:r>
              <a:rPr lang="en-US" sz="1150" dirty="0">
                <a:solidFill>
                  <a:srgbClr val="EAF2F7"/>
                </a:solidFill>
                <a:latin typeface="Calibri" pitchFamily="34" charset="0"/>
                <a:ea typeface="Calibri" pitchFamily="34" charset="-122"/>
                <a:cs typeface="Calibri" pitchFamily="34" charset="-120"/>
              </a:rPr>
              <a:t>16×9 buffer</a:t>
            </a:r>
            <a:endParaRPr lang="en-US" sz="1150" dirty="0"/>
          </a:p>
          <a:p>
            <a:pPr algn="ctr" indent="0" marL="0">
              <a:lnSpc>
                <a:spcPct val="105000"/>
              </a:lnSpc>
              <a:buNone/>
            </a:pPr>
            <a:r>
              <a:rPr lang="en-US" sz="1150" dirty="0">
                <a:solidFill>
                  <a:srgbClr val="EAF2F7"/>
                </a:solidFill>
                <a:latin typeface="Calibri" pitchFamily="34" charset="0"/>
                <a:ea typeface="Calibri" pitchFamily="34" charset="-122"/>
                <a:cs typeface="Calibri" pitchFamily="34" charset="-120"/>
              </a:rPr>
              <a:t>channel 2</a:t>
            </a:r>
            <a:endParaRPr lang="en-US" sz="1150" dirty="0"/>
          </a:p>
        </p:txBody>
      </p:sp>
      <p:sp>
        <p:nvSpPr>
          <p:cNvPr id="25" name="Shape 23"/>
          <p:cNvSpPr/>
          <p:nvPr/>
        </p:nvSpPr>
        <p:spPr>
          <a:xfrm>
            <a:off x="3977640" y="2834640"/>
            <a:ext cx="-502920" cy="0"/>
          </a:xfrm>
          <a:prstGeom prst="line">
            <a:avLst/>
          </a:prstGeom>
          <a:noFill/>
          <a:ln w="25400">
            <a:solidFill>
              <a:srgbClr val="5B6B7B"/>
            </a:solidFill>
            <a:prstDash val="solid"/>
            <a:headEnd type="triangle"/>
            <a:tailEnd type="triangle"/>
          </a:ln>
        </p:spPr>
      </p:sp>
      <p:sp>
        <p:nvSpPr>
          <p:cNvPr id="26" name="Shape 24"/>
          <p:cNvSpPr/>
          <p:nvPr/>
        </p:nvSpPr>
        <p:spPr>
          <a:xfrm>
            <a:off x="6903720" y="2834640"/>
            <a:ext cx="502920" cy="0"/>
          </a:xfrm>
          <a:prstGeom prst="line">
            <a:avLst/>
          </a:prstGeom>
          <a:noFill/>
          <a:ln w="25400">
            <a:solidFill>
              <a:srgbClr val="5B6B7B"/>
            </a:solidFill>
            <a:prstDash val="solid"/>
            <a:headEnd type="triangle"/>
            <a:tailEnd type="triangle"/>
          </a:ln>
        </p:spPr>
      </p:sp>
      <p:sp>
        <p:nvSpPr>
          <p:cNvPr id="27" name="Shape 25"/>
          <p:cNvSpPr/>
          <p:nvPr/>
        </p:nvSpPr>
        <p:spPr>
          <a:xfrm>
            <a:off x="2743200" y="4160520"/>
            <a:ext cx="0" cy="-594360"/>
          </a:xfrm>
          <a:prstGeom prst="line">
            <a:avLst/>
          </a:prstGeom>
          <a:noFill/>
          <a:ln w="25400">
            <a:solidFill>
              <a:srgbClr val="5B6B7B"/>
            </a:solidFill>
            <a:prstDash val="solid"/>
            <a:tailEnd type="triangle"/>
          </a:ln>
        </p:spPr>
      </p:sp>
      <p:sp>
        <p:nvSpPr>
          <p:cNvPr id="28" name="Shape 26"/>
          <p:cNvSpPr/>
          <p:nvPr/>
        </p:nvSpPr>
        <p:spPr>
          <a:xfrm>
            <a:off x="8778240" y="4160520"/>
            <a:ext cx="0" cy="-594360"/>
          </a:xfrm>
          <a:prstGeom prst="line">
            <a:avLst/>
          </a:prstGeom>
          <a:noFill/>
          <a:ln w="25400">
            <a:solidFill>
              <a:srgbClr val="5B6B7B"/>
            </a:solidFill>
            <a:prstDash val="solid"/>
            <a:tailEnd type="triangle"/>
          </a:ln>
        </p:spPr>
      </p:sp>
      <p:sp>
        <p:nvSpPr>
          <p:cNvPr id="29" name="Text 27"/>
          <p:cNvSpPr/>
          <p:nvPr/>
        </p:nvSpPr>
        <p:spPr>
          <a:xfrm>
            <a:off x="1920240" y="3675888"/>
            <a:ext cx="164592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dout (data)</a:t>
            </a:r>
            <a:endParaRPr lang="en-US" sz="1000" dirty="0"/>
          </a:p>
        </p:txBody>
      </p:sp>
      <p:sp>
        <p:nvSpPr>
          <p:cNvPr id="30" name="Text 28"/>
          <p:cNvSpPr/>
          <p:nvPr/>
        </p:nvSpPr>
        <p:spPr>
          <a:xfrm>
            <a:off x="8138160" y="3675888"/>
            <a:ext cx="146304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write_enb</a:t>
            </a:r>
            <a:endParaRPr lang="en-US" sz="1000" dirty="0"/>
          </a:p>
        </p:txBody>
      </p:sp>
      <p:sp>
        <p:nvSpPr>
          <p:cNvPr id="31" name="Text 29"/>
          <p:cNvSpPr/>
          <p:nvPr/>
        </p:nvSpPr>
        <p:spPr>
          <a:xfrm>
            <a:off x="548640" y="5760720"/>
            <a:ext cx="11064240" cy="548640"/>
          </a:xfrm>
          <a:prstGeom prst="rect">
            <a:avLst/>
          </a:prstGeom>
          <a:noFill/>
          <a:ln/>
        </p:spPr>
        <p:txBody>
          <a:bodyPr wrap="square" lIns="0" tIns="0" rIns="0" bIns="0" rtlCol="0" anchor="ctr"/>
          <a:lstStyle/>
          <a:p>
            <a:pPr algn="ctr" indent="0" marL="0">
              <a:buNone/>
            </a:pPr>
            <a:r>
              <a:rPr lang="en-US" sz="1350" dirty="0">
                <a:solidFill>
                  <a:srgbClr val="1B2430"/>
                </a:solidFill>
                <a:latin typeface="Calibri" pitchFamily="34" charset="0"/>
                <a:ea typeface="Calibri" pitchFamily="34" charset="-122"/>
                <a:cs typeface="Calibri" pitchFamily="34" charset="-120"/>
              </a:rPr>
              <a:t>The FSM sits in the middle and controls both the register (what byte to build) and the synchronizer (which FIFO to write). The three FIFOs buffer data until each output channel reads it.</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DATAFLOW</a:t>
            </a:r>
            <a:endParaRPr lang="en-US" sz="1200" dirty="0"/>
          </a:p>
        </p:txBody>
      </p:sp>
      <p:sp>
        <p:nvSpPr>
          <p:cNvPr id="3" name="Text 1"/>
          <p:cNvSpPr/>
          <p:nvPr/>
        </p:nvSpPr>
        <p:spPr>
          <a:xfrm>
            <a:off x="548640" y="640080"/>
            <a:ext cx="1042416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How a packet travels through</a:t>
            </a:r>
            <a:endParaRPr lang="en-US" sz="3000" dirty="0"/>
          </a:p>
        </p:txBody>
      </p:sp>
      <p:sp>
        <p:nvSpPr>
          <p:cNvPr id="4" name="Shape 2"/>
          <p:cNvSpPr/>
          <p:nvPr/>
        </p:nvSpPr>
        <p:spPr>
          <a:xfrm>
            <a:off x="11292840" y="457200"/>
            <a:ext cx="502920" cy="502920"/>
          </a:xfrm>
          <a:prstGeom prst="ellipse">
            <a:avLst/>
          </a:prstGeom>
          <a:solidFill>
            <a:srgbClr val="21295C"/>
          </a:solidFill>
          <a:ln/>
        </p:spPr>
      </p:sp>
      <p:sp>
        <p:nvSpPr>
          <p:cNvPr id="5" name="Text 3"/>
          <p:cNvSpPr/>
          <p:nvPr/>
        </p:nvSpPr>
        <p:spPr>
          <a:xfrm>
            <a:off x="112928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6" name="Shape 4"/>
          <p:cNvSpPr/>
          <p:nvPr/>
        </p:nvSpPr>
        <p:spPr>
          <a:xfrm>
            <a:off x="548640" y="1691640"/>
            <a:ext cx="11064240" cy="841248"/>
          </a:xfrm>
          <a:prstGeom prst="roundRect">
            <a:avLst>
              <a:gd name="adj" fmla="val 9783"/>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7" name="Shape 5"/>
          <p:cNvSpPr/>
          <p:nvPr/>
        </p:nvSpPr>
        <p:spPr>
          <a:xfrm>
            <a:off x="777240" y="1837944"/>
            <a:ext cx="548640" cy="548640"/>
          </a:xfrm>
          <a:prstGeom prst="ellipse">
            <a:avLst/>
          </a:prstGeom>
          <a:solidFill>
            <a:srgbClr val="065A82"/>
          </a:solidFill>
          <a:ln/>
        </p:spPr>
      </p:sp>
      <p:sp>
        <p:nvSpPr>
          <p:cNvPr id="8" name="Text 6"/>
          <p:cNvSpPr/>
          <p:nvPr/>
        </p:nvSpPr>
        <p:spPr>
          <a:xfrm>
            <a:off x="777240" y="183794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554480" y="1819656"/>
            <a:ext cx="2743200" cy="54864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Header arrives</a:t>
            </a:r>
            <a:endParaRPr lang="en-US" sz="1600" dirty="0"/>
          </a:p>
        </p:txBody>
      </p:sp>
      <p:sp>
        <p:nvSpPr>
          <p:cNvPr id="10" name="Text 8"/>
          <p:cNvSpPr/>
          <p:nvPr/>
        </p:nvSpPr>
        <p:spPr>
          <a:xfrm>
            <a:off x="4297680" y="1783080"/>
            <a:ext cx="7132320" cy="658368"/>
          </a:xfrm>
          <a:prstGeom prst="rect">
            <a:avLst/>
          </a:prstGeom>
          <a:noFill/>
          <a:ln/>
        </p:spPr>
        <p:txBody>
          <a:bodyPr wrap="square" lIns="0" tIns="0" rIns="0" bIns="0" rtlCol="0" anchor="ctr"/>
          <a:lstStyle/>
          <a:p>
            <a:pPr indent="0" marL="0">
              <a:lnSpc>
                <a:spcPct val="105000"/>
              </a:lnSpc>
              <a:buNone/>
            </a:pPr>
            <a:r>
              <a:rPr lang="en-US" sz="1350" dirty="0">
                <a:solidFill>
                  <a:srgbClr val="5B6B7B"/>
                </a:solidFill>
                <a:latin typeface="Calibri" pitchFamily="34" charset="0"/>
                <a:ea typeface="Calibri" pitchFamily="34" charset="-122"/>
                <a:cs typeface="Calibri" pitchFamily="34" charset="-120"/>
              </a:rPr>
              <a:t>pkt_valid goes high; FSM reads addr[1:0] to pick the channel and checks that FIFO is empty.</a:t>
            </a:r>
            <a:endParaRPr lang="en-US" sz="1350" dirty="0"/>
          </a:p>
        </p:txBody>
      </p:sp>
      <p:sp>
        <p:nvSpPr>
          <p:cNvPr id="11" name="Shape 9"/>
          <p:cNvSpPr/>
          <p:nvPr/>
        </p:nvSpPr>
        <p:spPr>
          <a:xfrm>
            <a:off x="548640" y="2624328"/>
            <a:ext cx="11064240" cy="841248"/>
          </a:xfrm>
          <a:prstGeom prst="roundRect">
            <a:avLst>
              <a:gd name="adj" fmla="val 9783"/>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12" name="Shape 10"/>
          <p:cNvSpPr/>
          <p:nvPr/>
        </p:nvSpPr>
        <p:spPr>
          <a:xfrm>
            <a:off x="777240" y="2770632"/>
            <a:ext cx="548640" cy="548640"/>
          </a:xfrm>
          <a:prstGeom prst="ellipse">
            <a:avLst/>
          </a:prstGeom>
          <a:solidFill>
            <a:srgbClr val="1C7293"/>
          </a:solidFill>
          <a:ln/>
        </p:spPr>
      </p:sp>
      <p:sp>
        <p:nvSpPr>
          <p:cNvPr id="13" name="Text 11"/>
          <p:cNvSpPr/>
          <p:nvPr/>
        </p:nvSpPr>
        <p:spPr>
          <a:xfrm>
            <a:off x="777240" y="277063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1554480" y="2752344"/>
            <a:ext cx="2743200" cy="54864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Latch &amp; route</a:t>
            </a:r>
            <a:endParaRPr lang="en-US" sz="1600" dirty="0"/>
          </a:p>
        </p:txBody>
      </p:sp>
      <p:sp>
        <p:nvSpPr>
          <p:cNvPr id="15" name="Text 13"/>
          <p:cNvSpPr/>
          <p:nvPr/>
        </p:nvSpPr>
        <p:spPr>
          <a:xfrm>
            <a:off x="4297680" y="2715768"/>
            <a:ext cx="7132320" cy="658368"/>
          </a:xfrm>
          <a:prstGeom prst="rect">
            <a:avLst/>
          </a:prstGeom>
          <a:noFill/>
          <a:ln/>
        </p:spPr>
        <p:txBody>
          <a:bodyPr wrap="square" lIns="0" tIns="0" rIns="0" bIns="0" rtlCol="0" anchor="ctr"/>
          <a:lstStyle/>
          <a:p>
            <a:pPr indent="0" marL="0">
              <a:lnSpc>
                <a:spcPct val="105000"/>
              </a:lnSpc>
              <a:buNone/>
            </a:pPr>
            <a:r>
              <a:rPr lang="en-US" sz="1350" dirty="0">
                <a:solidFill>
                  <a:srgbClr val="5B6B7B"/>
                </a:solidFill>
                <a:latin typeface="Calibri" pitchFamily="34" charset="0"/>
                <a:ea typeface="Calibri" pitchFamily="34" charset="-122"/>
                <a:cs typeface="Calibri" pitchFamily="34" charset="-120"/>
              </a:rPr>
              <a:t>router_reg captures the first byte; router_sync asserts write_enb for the chosen FIFO only.</a:t>
            </a:r>
            <a:endParaRPr lang="en-US" sz="1350" dirty="0"/>
          </a:p>
        </p:txBody>
      </p:sp>
      <p:sp>
        <p:nvSpPr>
          <p:cNvPr id="16" name="Shape 14"/>
          <p:cNvSpPr/>
          <p:nvPr/>
        </p:nvSpPr>
        <p:spPr>
          <a:xfrm>
            <a:off x="548640" y="3557016"/>
            <a:ext cx="11064240" cy="841248"/>
          </a:xfrm>
          <a:prstGeom prst="roundRect">
            <a:avLst>
              <a:gd name="adj" fmla="val 9783"/>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17" name="Shape 15"/>
          <p:cNvSpPr/>
          <p:nvPr/>
        </p:nvSpPr>
        <p:spPr>
          <a:xfrm>
            <a:off x="777240" y="3703320"/>
            <a:ext cx="548640" cy="548640"/>
          </a:xfrm>
          <a:prstGeom prst="ellipse">
            <a:avLst/>
          </a:prstGeom>
          <a:solidFill>
            <a:srgbClr val="065A82"/>
          </a:solidFill>
          <a:ln/>
        </p:spPr>
      </p:sp>
      <p:sp>
        <p:nvSpPr>
          <p:cNvPr id="18" name="Text 16"/>
          <p:cNvSpPr/>
          <p:nvPr/>
        </p:nvSpPr>
        <p:spPr>
          <a:xfrm>
            <a:off x="777240" y="370332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1554480" y="3685032"/>
            <a:ext cx="2743200" cy="54864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Stream payload</a:t>
            </a:r>
            <a:endParaRPr lang="en-US" sz="1600" dirty="0"/>
          </a:p>
        </p:txBody>
      </p:sp>
      <p:sp>
        <p:nvSpPr>
          <p:cNvPr id="20" name="Text 18"/>
          <p:cNvSpPr/>
          <p:nvPr/>
        </p:nvSpPr>
        <p:spPr>
          <a:xfrm>
            <a:off x="4297680" y="3648456"/>
            <a:ext cx="7132320" cy="658368"/>
          </a:xfrm>
          <a:prstGeom prst="rect">
            <a:avLst/>
          </a:prstGeom>
          <a:noFill/>
          <a:ln/>
        </p:spPr>
        <p:txBody>
          <a:bodyPr wrap="square" lIns="0" tIns="0" rIns="0" bIns="0" rtlCol="0" anchor="ctr"/>
          <a:lstStyle/>
          <a:p>
            <a:pPr indent="0" marL="0">
              <a:lnSpc>
                <a:spcPct val="105000"/>
              </a:lnSpc>
              <a:buNone/>
            </a:pPr>
            <a:r>
              <a:rPr lang="en-US" sz="1350" dirty="0">
                <a:solidFill>
                  <a:srgbClr val="5B6B7B"/>
                </a:solidFill>
                <a:latin typeface="Calibri" pitchFamily="34" charset="0"/>
                <a:ea typeface="Calibri" pitchFamily="34" charset="-122"/>
                <a:cs typeface="Calibri" pitchFamily="34" charset="-120"/>
              </a:rPr>
              <a:t>Each clock, a payload byte flows through dout into the FIFO. Parity is XOR-accumulated as it goes.</a:t>
            </a:r>
            <a:endParaRPr lang="en-US" sz="1350" dirty="0"/>
          </a:p>
        </p:txBody>
      </p:sp>
      <p:sp>
        <p:nvSpPr>
          <p:cNvPr id="21" name="Shape 19"/>
          <p:cNvSpPr/>
          <p:nvPr/>
        </p:nvSpPr>
        <p:spPr>
          <a:xfrm>
            <a:off x="548640" y="4489704"/>
            <a:ext cx="11064240" cy="841248"/>
          </a:xfrm>
          <a:prstGeom prst="roundRect">
            <a:avLst>
              <a:gd name="adj" fmla="val 9783"/>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22" name="Shape 20"/>
          <p:cNvSpPr/>
          <p:nvPr/>
        </p:nvSpPr>
        <p:spPr>
          <a:xfrm>
            <a:off x="777240" y="4636008"/>
            <a:ext cx="548640" cy="548640"/>
          </a:xfrm>
          <a:prstGeom prst="ellipse">
            <a:avLst/>
          </a:prstGeom>
          <a:solidFill>
            <a:srgbClr val="1C7293"/>
          </a:solidFill>
          <a:ln/>
        </p:spPr>
      </p:sp>
      <p:sp>
        <p:nvSpPr>
          <p:cNvPr id="23" name="Text 21"/>
          <p:cNvSpPr/>
          <p:nvPr/>
        </p:nvSpPr>
        <p:spPr>
          <a:xfrm>
            <a:off x="777240" y="463600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2"/>
          <p:cNvSpPr/>
          <p:nvPr/>
        </p:nvSpPr>
        <p:spPr>
          <a:xfrm>
            <a:off x="1554480" y="4617720"/>
            <a:ext cx="2743200" cy="54864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Check parity</a:t>
            </a:r>
            <a:endParaRPr lang="en-US" sz="1600" dirty="0"/>
          </a:p>
        </p:txBody>
      </p:sp>
      <p:sp>
        <p:nvSpPr>
          <p:cNvPr id="25" name="Text 23"/>
          <p:cNvSpPr/>
          <p:nvPr/>
        </p:nvSpPr>
        <p:spPr>
          <a:xfrm>
            <a:off x="4297680" y="4581144"/>
            <a:ext cx="7132320" cy="658368"/>
          </a:xfrm>
          <a:prstGeom prst="rect">
            <a:avLst/>
          </a:prstGeom>
          <a:noFill/>
          <a:ln/>
        </p:spPr>
        <p:txBody>
          <a:bodyPr wrap="square" lIns="0" tIns="0" rIns="0" bIns="0" rtlCol="0" anchor="ctr"/>
          <a:lstStyle/>
          <a:p>
            <a:pPr indent="0" marL="0">
              <a:lnSpc>
                <a:spcPct val="105000"/>
              </a:lnSpc>
              <a:buNone/>
            </a:pPr>
            <a:r>
              <a:rPr lang="en-US" sz="1350" dirty="0">
                <a:solidFill>
                  <a:srgbClr val="5B6B7B"/>
                </a:solidFill>
                <a:latin typeface="Calibri" pitchFamily="34" charset="0"/>
                <a:ea typeface="Calibri" pitchFamily="34" charset="-122"/>
                <a:cs typeface="Calibri" pitchFamily="34" charset="-120"/>
              </a:rPr>
              <a:t>Last byte is the packet's parity. FSM compares it to the internal parity → error flag.</a:t>
            </a:r>
            <a:endParaRPr lang="en-US" sz="1350" dirty="0"/>
          </a:p>
        </p:txBody>
      </p:sp>
      <p:sp>
        <p:nvSpPr>
          <p:cNvPr id="26" name="Shape 24"/>
          <p:cNvSpPr/>
          <p:nvPr/>
        </p:nvSpPr>
        <p:spPr>
          <a:xfrm>
            <a:off x="548640" y="5422392"/>
            <a:ext cx="11064240" cy="841248"/>
          </a:xfrm>
          <a:prstGeom prst="roundRect">
            <a:avLst>
              <a:gd name="adj" fmla="val 9783"/>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27" name="Shape 25"/>
          <p:cNvSpPr/>
          <p:nvPr/>
        </p:nvSpPr>
        <p:spPr>
          <a:xfrm>
            <a:off x="777240" y="5568696"/>
            <a:ext cx="548640" cy="548640"/>
          </a:xfrm>
          <a:prstGeom prst="ellipse">
            <a:avLst/>
          </a:prstGeom>
          <a:solidFill>
            <a:srgbClr val="065A82"/>
          </a:solidFill>
          <a:ln/>
        </p:spPr>
      </p:sp>
      <p:sp>
        <p:nvSpPr>
          <p:cNvPr id="28" name="Text 26"/>
          <p:cNvSpPr/>
          <p:nvPr/>
        </p:nvSpPr>
        <p:spPr>
          <a:xfrm>
            <a:off x="777240" y="556869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9" name="Text 27"/>
          <p:cNvSpPr/>
          <p:nvPr/>
        </p:nvSpPr>
        <p:spPr>
          <a:xfrm>
            <a:off x="1554480" y="5550408"/>
            <a:ext cx="2743200" cy="54864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Read out</a:t>
            </a:r>
            <a:endParaRPr lang="en-US" sz="1600" dirty="0"/>
          </a:p>
        </p:txBody>
      </p:sp>
      <p:sp>
        <p:nvSpPr>
          <p:cNvPr id="30" name="Text 28"/>
          <p:cNvSpPr/>
          <p:nvPr/>
        </p:nvSpPr>
        <p:spPr>
          <a:xfrm>
            <a:off x="4297680" y="5513832"/>
            <a:ext cx="7132320" cy="658368"/>
          </a:xfrm>
          <a:prstGeom prst="rect">
            <a:avLst/>
          </a:prstGeom>
          <a:noFill/>
          <a:ln/>
        </p:spPr>
        <p:txBody>
          <a:bodyPr wrap="square" lIns="0" tIns="0" rIns="0" bIns="0" rtlCol="0" anchor="ctr"/>
          <a:lstStyle/>
          <a:p>
            <a:pPr indent="0" marL="0">
              <a:lnSpc>
                <a:spcPct val="105000"/>
              </a:lnSpc>
              <a:buNone/>
            </a:pPr>
            <a:r>
              <a:rPr lang="en-US" sz="1350" dirty="0">
                <a:solidFill>
                  <a:srgbClr val="5B6B7B"/>
                </a:solidFill>
                <a:latin typeface="Calibri" pitchFamily="34" charset="0"/>
                <a:ea typeface="Calibri" pitchFamily="34" charset="-122"/>
                <a:cs typeface="Calibri" pitchFamily="34" charset="-120"/>
              </a:rPr>
              <a:t>valid_out goes high; the destination pulls bytes out with read_enb. FIFO empties, back to idle.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FSM DEEP-DIVE</a:t>
            </a:r>
            <a:endParaRPr lang="en-US" sz="1200" dirty="0"/>
          </a:p>
        </p:txBody>
      </p:sp>
      <p:sp>
        <p:nvSpPr>
          <p:cNvPr id="3" name="Text 1"/>
          <p:cNvSpPr/>
          <p:nvPr/>
        </p:nvSpPr>
        <p:spPr>
          <a:xfrm>
            <a:off x="548640" y="640080"/>
            <a:ext cx="1042416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The 8-state controller</a:t>
            </a:r>
            <a:endParaRPr lang="en-US" sz="3000" dirty="0"/>
          </a:p>
        </p:txBody>
      </p:sp>
      <p:sp>
        <p:nvSpPr>
          <p:cNvPr id="4" name="Shape 2"/>
          <p:cNvSpPr/>
          <p:nvPr/>
        </p:nvSpPr>
        <p:spPr>
          <a:xfrm>
            <a:off x="11292840" y="457200"/>
            <a:ext cx="502920" cy="502920"/>
          </a:xfrm>
          <a:prstGeom prst="ellipse">
            <a:avLst/>
          </a:prstGeom>
          <a:solidFill>
            <a:srgbClr val="21295C"/>
          </a:solidFill>
          <a:ln/>
        </p:spPr>
      </p:sp>
      <p:sp>
        <p:nvSpPr>
          <p:cNvPr id="5" name="Text 3"/>
          <p:cNvSpPr/>
          <p:nvPr/>
        </p:nvSpPr>
        <p:spPr>
          <a:xfrm>
            <a:off x="112928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6" name="Text 4"/>
          <p:cNvSpPr/>
          <p:nvPr/>
        </p:nvSpPr>
        <p:spPr>
          <a:xfrm>
            <a:off x="548640" y="1463040"/>
            <a:ext cx="11064240" cy="502920"/>
          </a:xfrm>
          <a:prstGeom prst="rect">
            <a:avLst/>
          </a:prstGeom>
          <a:noFill/>
          <a:ln/>
        </p:spPr>
        <p:txBody>
          <a:bodyPr wrap="square" lIns="0" tIns="0" rIns="0" bIns="0" rtlCol="0" anchor="ctr"/>
          <a:lstStyle/>
          <a:p>
            <a:pPr indent="0" marL="0">
              <a:buNone/>
            </a:pPr>
            <a:r>
              <a:rPr lang="en-US" sz="1450" dirty="0">
                <a:solidFill>
                  <a:srgbClr val="5B6B7B"/>
                </a:solidFill>
                <a:latin typeface="Calibri" pitchFamily="34" charset="0"/>
                <a:ea typeface="Calibri" pitchFamily="34" charset="-122"/>
                <a:cs typeface="Calibri" pitchFamily="34" charset="-120"/>
              </a:rPr>
              <a:t>Two always blocks for state (sequential present-state + combinational next-state), one for outputs. Every control signal in the whole router is generated here.</a:t>
            </a:r>
            <a:endParaRPr lang="en-US" sz="1450" dirty="0"/>
          </a:p>
        </p:txBody>
      </p:sp>
      <p:sp>
        <p:nvSpPr>
          <p:cNvPr id="7" name="Shape 5"/>
          <p:cNvSpPr/>
          <p:nvPr/>
        </p:nvSpPr>
        <p:spPr>
          <a:xfrm>
            <a:off x="548640" y="2148840"/>
            <a:ext cx="2651760" cy="1691640"/>
          </a:xfrm>
          <a:prstGeom prst="roundRect">
            <a:avLst>
              <a:gd name="adj" fmla="val 4865"/>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8" name="Shape 6"/>
          <p:cNvSpPr/>
          <p:nvPr/>
        </p:nvSpPr>
        <p:spPr>
          <a:xfrm>
            <a:off x="548640" y="2148840"/>
            <a:ext cx="2651760" cy="457200"/>
          </a:xfrm>
          <a:prstGeom prst="roundRect">
            <a:avLst>
              <a:gd name="adj" fmla="val 16000"/>
            </a:avLst>
          </a:prstGeom>
          <a:solidFill>
            <a:srgbClr val="065A82"/>
          </a:solidFill>
          <a:ln/>
        </p:spPr>
      </p:sp>
      <p:sp>
        <p:nvSpPr>
          <p:cNvPr id="9" name="Text 7"/>
          <p:cNvSpPr/>
          <p:nvPr/>
        </p:nvSpPr>
        <p:spPr>
          <a:xfrm>
            <a:off x="658368" y="2231136"/>
            <a:ext cx="310896" cy="292608"/>
          </a:xfrm>
          <a:prstGeom prst="rect">
            <a:avLst/>
          </a:prstGeom>
          <a:solidFill>
            <a:srgbClr val="FFFFFF"/>
          </a:solidFill>
          <a:ln/>
        </p:spPr>
        <p:txBody>
          <a:bodyPr wrap="square" lIns="0" tIns="0" rIns="0" bIns="0" rtlCol="0" anchor="ctr"/>
          <a:lstStyle/>
          <a:p>
            <a:pPr algn="ctr" indent="0" marL="0">
              <a:buNone/>
            </a:pPr>
            <a:r>
              <a:rPr lang="en-US" sz="1200" b="1" dirty="0">
                <a:solidFill>
                  <a:srgbClr val="065A82"/>
                </a:solidFill>
                <a:latin typeface="Calibri" pitchFamily="34" charset="0"/>
                <a:ea typeface="Calibri" pitchFamily="34" charset="-122"/>
                <a:cs typeface="Calibri" pitchFamily="34" charset="-120"/>
              </a:rPr>
              <a:t>0</a:t>
            </a:r>
            <a:endParaRPr lang="en-US" sz="1200" dirty="0"/>
          </a:p>
        </p:txBody>
      </p:sp>
      <p:sp>
        <p:nvSpPr>
          <p:cNvPr id="10" name="Text 8"/>
          <p:cNvSpPr/>
          <p:nvPr/>
        </p:nvSpPr>
        <p:spPr>
          <a:xfrm>
            <a:off x="1051560" y="2148840"/>
            <a:ext cx="21031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DECODE_ADDRESS</a:t>
            </a:r>
            <a:endParaRPr lang="en-US" sz="1200" dirty="0"/>
          </a:p>
        </p:txBody>
      </p:sp>
      <p:sp>
        <p:nvSpPr>
          <p:cNvPr id="11" name="Text 9"/>
          <p:cNvSpPr/>
          <p:nvPr/>
        </p:nvSpPr>
        <p:spPr>
          <a:xfrm>
            <a:off x="713232" y="2715768"/>
            <a:ext cx="2331720" cy="1051560"/>
          </a:xfrm>
          <a:prstGeom prst="rect">
            <a:avLst/>
          </a:prstGeom>
          <a:noFill/>
          <a:ln/>
        </p:spPr>
        <p:txBody>
          <a:bodyPr wrap="square" lIns="0" tIns="0" rIns="0" bIns="0" rtlCol="0" anchor="t"/>
          <a:lstStyle/>
          <a:p>
            <a:pPr indent="0" marL="0">
              <a:lnSpc>
                <a:spcPct val="110000"/>
              </a:lnSpc>
              <a:buNone/>
            </a:pPr>
            <a:r>
              <a:rPr lang="en-US" sz="1250" dirty="0">
                <a:solidFill>
                  <a:srgbClr val="1B2430"/>
                </a:solidFill>
                <a:latin typeface="Calibri" pitchFamily="34" charset="0"/>
                <a:ea typeface="Calibri" pitchFamily="34" charset="-122"/>
                <a:cs typeface="Calibri" pitchFamily="34" charset="-120"/>
              </a:rPr>
              <a:t>Idle. Read addr, wait for a valid packet.</a:t>
            </a:r>
            <a:endParaRPr lang="en-US" sz="1250" dirty="0"/>
          </a:p>
        </p:txBody>
      </p:sp>
      <p:sp>
        <p:nvSpPr>
          <p:cNvPr id="12" name="Shape 10"/>
          <p:cNvSpPr/>
          <p:nvPr/>
        </p:nvSpPr>
        <p:spPr>
          <a:xfrm>
            <a:off x="3364992" y="2148840"/>
            <a:ext cx="2651760" cy="1691640"/>
          </a:xfrm>
          <a:prstGeom prst="roundRect">
            <a:avLst>
              <a:gd name="adj" fmla="val 4865"/>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13" name="Shape 11"/>
          <p:cNvSpPr/>
          <p:nvPr/>
        </p:nvSpPr>
        <p:spPr>
          <a:xfrm>
            <a:off x="3364992" y="2148840"/>
            <a:ext cx="2651760" cy="457200"/>
          </a:xfrm>
          <a:prstGeom prst="roundRect">
            <a:avLst>
              <a:gd name="adj" fmla="val 16000"/>
            </a:avLst>
          </a:prstGeom>
          <a:solidFill>
            <a:srgbClr val="1C7293"/>
          </a:solidFill>
          <a:ln/>
        </p:spPr>
      </p:sp>
      <p:sp>
        <p:nvSpPr>
          <p:cNvPr id="14" name="Text 12"/>
          <p:cNvSpPr/>
          <p:nvPr/>
        </p:nvSpPr>
        <p:spPr>
          <a:xfrm>
            <a:off x="3474720" y="2231136"/>
            <a:ext cx="310896" cy="292608"/>
          </a:xfrm>
          <a:prstGeom prst="rect">
            <a:avLst/>
          </a:prstGeom>
          <a:solidFill>
            <a:srgbClr val="FFFFFF"/>
          </a:solidFill>
          <a:ln/>
        </p:spPr>
        <p:txBody>
          <a:bodyPr wrap="square" lIns="0" tIns="0" rIns="0" bIns="0" rtlCol="0" anchor="ctr"/>
          <a:lstStyle/>
          <a:p>
            <a:pPr algn="ctr" indent="0" marL="0">
              <a:buNone/>
            </a:pPr>
            <a:r>
              <a:rPr lang="en-US" sz="1200" b="1" dirty="0">
                <a:solidFill>
                  <a:srgbClr val="1C7293"/>
                </a:solidFill>
                <a:latin typeface="Calibri" pitchFamily="34" charset="0"/>
                <a:ea typeface="Calibri" pitchFamily="34" charset="-122"/>
                <a:cs typeface="Calibri" pitchFamily="34" charset="-120"/>
              </a:rPr>
              <a:t>1</a:t>
            </a:r>
            <a:endParaRPr lang="en-US" sz="1200" dirty="0"/>
          </a:p>
        </p:txBody>
      </p:sp>
      <p:sp>
        <p:nvSpPr>
          <p:cNvPr id="15" name="Text 13"/>
          <p:cNvSpPr/>
          <p:nvPr/>
        </p:nvSpPr>
        <p:spPr>
          <a:xfrm>
            <a:off x="3867912" y="2148840"/>
            <a:ext cx="21031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LOAD_FIRST_DATA</a:t>
            </a:r>
            <a:endParaRPr lang="en-US" sz="1200" dirty="0"/>
          </a:p>
        </p:txBody>
      </p:sp>
      <p:sp>
        <p:nvSpPr>
          <p:cNvPr id="16" name="Text 14"/>
          <p:cNvSpPr/>
          <p:nvPr/>
        </p:nvSpPr>
        <p:spPr>
          <a:xfrm>
            <a:off x="3529584" y="2715768"/>
            <a:ext cx="2331720" cy="1051560"/>
          </a:xfrm>
          <a:prstGeom prst="rect">
            <a:avLst/>
          </a:prstGeom>
          <a:noFill/>
          <a:ln/>
        </p:spPr>
        <p:txBody>
          <a:bodyPr wrap="square" lIns="0" tIns="0" rIns="0" bIns="0" rtlCol="0" anchor="t"/>
          <a:lstStyle/>
          <a:p>
            <a:pPr indent="0" marL="0">
              <a:lnSpc>
                <a:spcPct val="110000"/>
              </a:lnSpc>
              <a:buNone/>
            </a:pPr>
            <a:r>
              <a:rPr lang="en-US" sz="1250" dirty="0">
                <a:solidFill>
                  <a:srgbClr val="1B2430"/>
                </a:solidFill>
                <a:latin typeface="Calibri" pitchFamily="34" charset="0"/>
                <a:ea typeface="Calibri" pitchFamily="34" charset="-122"/>
                <a:cs typeface="Calibri" pitchFamily="34" charset="-120"/>
              </a:rPr>
              <a:t>Latch header byte into the register.</a:t>
            </a:r>
            <a:endParaRPr lang="en-US" sz="1250" dirty="0"/>
          </a:p>
        </p:txBody>
      </p:sp>
      <p:sp>
        <p:nvSpPr>
          <p:cNvPr id="17" name="Shape 15"/>
          <p:cNvSpPr/>
          <p:nvPr/>
        </p:nvSpPr>
        <p:spPr>
          <a:xfrm>
            <a:off x="6181344" y="2148840"/>
            <a:ext cx="2651760" cy="1691640"/>
          </a:xfrm>
          <a:prstGeom prst="roundRect">
            <a:avLst>
              <a:gd name="adj" fmla="val 4865"/>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18" name="Shape 16"/>
          <p:cNvSpPr/>
          <p:nvPr/>
        </p:nvSpPr>
        <p:spPr>
          <a:xfrm>
            <a:off x="6181344" y="2148840"/>
            <a:ext cx="2651760" cy="457200"/>
          </a:xfrm>
          <a:prstGeom prst="roundRect">
            <a:avLst>
              <a:gd name="adj" fmla="val 16000"/>
            </a:avLst>
          </a:prstGeom>
          <a:solidFill>
            <a:srgbClr val="1C7293"/>
          </a:solidFill>
          <a:ln/>
        </p:spPr>
      </p:sp>
      <p:sp>
        <p:nvSpPr>
          <p:cNvPr id="19" name="Text 17"/>
          <p:cNvSpPr/>
          <p:nvPr/>
        </p:nvSpPr>
        <p:spPr>
          <a:xfrm>
            <a:off x="6291072" y="2231136"/>
            <a:ext cx="310896" cy="292608"/>
          </a:xfrm>
          <a:prstGeom prst="rect">
            <a:avLst/>
          </a:prstGeom>
          <a:solidFill>
            <a:srgbClr val="FFFFFF"/>
          </a:solidFill>
          <a:ln/>
        </p:spPr>
        <p:txBody>
          <a:bodyPr wrap="square" lIns="0" tIns="0" rIns="0" bIns="0" rtlCol="0" anchor="ctr"/>
          <a:lstStyle/>
          <a:p>
            <a:pPr algn="ctr" indent="0" marL="0">
              <a:buNone/>
            </a:pPr>
            <a:r>
              <a:rPr lang="en-US" sz="1200" b="1" dirty="0">
                <a:solidFill>
                  <a:srgbClr val="1C7293"/>
                </a:solidFill>
                <a:latin typeface="Calibri" pitchFamily="34" charset="0"/>
                <a:ea typeface="Calibri" pitchFamily="34" charset="-122"/>
                <a:cs typeface="Calibri" pitchFamily="34" charset="-120"/>
              </a:rPr>
              <a:t>2</a:t>
            </a:r>
            <a:endParaRPr lang="en-US" sz="1200" dirty="0"/>
          </a:p>
        </p:txBody>
      </p:sp>
      <p:sp>
        <p:nvSpPr>
          <p:cNvPr id="20" name="Text 18"/>
          <p:cNvSpPr/>
          <p:nvPr/>
        </p:nvSpPr>
        <p:spPr>
          <a:xfrm>
            <a:off x="6684264" y="2148840"/>
            <a:ext cx="21031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LOAD_DATA</a:t>
            </a:r>
            <a:endParaRPr lang="en-US" sz="1200" dirty="0"/>
          </a:p>
        </p:txBody>
      </p:sp>
      <p:sp>
        <p:nvSpPr>
          <p:cNvPr id="21" name="Text 19"/>
          <p:cNvSpPr/>
          <p:nvPr/>
        </p:nvSpPr>
        <p:spPr>
          <a:xfrm>
            <a:off x="6345936" y="2715768"/>
            <a:ext cx="2331720" cy="1051560"/>
          </a:xfrm>
          <a:prstGeom prst="rect">
            <a:avLst/>
          </a:prstGeom>
          <a:noFill/>
          <a:ln/>
        </p:spPr>
        <p:txBody>
          <a:bodyPr wrap="square" lIns="0" tIns="0" rIns="0" bIns="0" rtlCol="0" anchor="t"/>
          <a:lstStyle/>
          <a:p>
            <a:pPr indent="0" marL="0">
              <a:lnSpc>
                <a:spcPct val="110000"/>
              </a:lnSpc>
              <a:buNone/>
            </a:pPr>
            <a:r>
              <a:rPr lang="en-US" sz="1250" dirty="0">
                <a:solidFill>
                  <a:srgbClr val="1B2430"/>
                </a:solidFill>
                <a:latin typeface="Calibri" pitchFamily="34" charset="0"/>
                <a:ea typeface="Calibri" pitchFamily="34" charset="-122"/>
                <a:cs typeface="Calibri" pitchFamily="34" charset="-120"/>
              </a:rPr>
              <a:t>Stream payload bytes into the FIFO.</a:t>
            </a:r>
            <a:endParaRPr lang="en-US" sz="1250" dirty="0"/>
          </a:p>
        </p:txBody>
      </p:sp>
      <p:sp>
        <p:nvSpPr>
          <p:cNvPr id="22" name="Shape 20"/>
          <p:cNvSpPr/>
          <p:nvPr/>
        </p:nvSpPr>
        <p:spPr>
          <a:xfrm>
            <a:off x="8997696" y="2148840"/>
            <a:ext cx="2651760" cy="1691640"/>
          </a:xfrm>
          <a:prstGeom prst="roundRect">
            <a:avLst>
              <a:gd name="adj" fmla="val 4865"/>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23" name="Shape 21"/>
          <p:cNvSpPr/>
          <p:nvPr/>
        </p:nvSpPr>
        <p:spPr>
          <a:xfrm>
            <a:off x="8997696" y="2148840"/>
            <a:ext cx="2651760" cy="457200"/>
          </a:xfrm>
          <a:prstGeom prst="roundRect">
            <a:avLst>
              <a:gd name="adj" fmla="val 16000"/>
            </a:avLst>
          </a:prstGeom>
          <a:solidFill>
            <a:srgbClr val="F2A65A"/>
          </a:solidFill>
          <a:ln/>
        </p:spPr>
      </p:sp>
      <p:sp>
        <p:nvSpPr>
          <p:cNvPr id="24" name="Text 22"/>
          <p:cNvSpPr/>
          <p:nvPr/>
        </p:nvSpPr>
        <p:spPr>
          <a:xfrm>
            <a:off x="9107424" y="2231136"/>
            <a:ext cx="310896" cy="292608"/>
          </a:xfrm>
          <a:prstGeom prst="rect">
            <a:avLst/>
          </a:prstGeom>
          <a:solidFill>
            <a:srgbClr val="FFFFFF"/>
          </a:solidFill>
          <a:ln/>
        </p:spPr>
        <p:txBody>
          <a:bodyPr wrap="square" lIns="0" tIns="0" rIns="0" bIns="0" rtlCol="0" anchor="ctr"/>
          <a:lstStyle/>
          <a:p>
            <a:pPr algn="ctr" indent="0" marL="0">
              <a:buNone/>
            </a:pPr>
            <a:r>
              <a:rPr lang="en-US" sz="1200" b="1" dirty="0">
                <a:solidFill>
                  <a:srgbClr val="F2A65A"/>
                </a:solidFill>
                <a:latin typeface="Calibri" pitchFamily="34" charset="0"/>
                <a:ea typeface="Calibri" pitchFamily="34" charset="-122"/>
                <a:cs typeface="Calibri" pitchFamily="34" charset="-120"/>
              </a:rPr>
              <a:t>3</a:t>
            </a:r>
            <a:endParaRPr lang="en-US" sz="1200" dirty="0"/>
          </a:p>
        </p:txBody>
      </p:sp>
      <p:sp>
        <p:nvSpPr>
          <p:cNvPr id="25" name="Text 23"/>
          <p:cNvSpPr/>
          <p:nvPr/>
        </p:nvSpPr>
        <p:spPr>
          <a:xfrm>
            <a:off x="9500616" y="2148840"/>
            <a:ext cx="21031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LOAD_PARITY</a:t>
            </a:r>
            <a:endParaRPr lang="en-US" sz="1200" dirty="0"/>
          </a:p>
        </p:txBody>
      </p:sp>
      <p:sp>
        <p:nvSpPr>
          <p:cNvPr id="26" name="Text 24"/>
          <p:cNvSpPr/>
          <p:nvPr/>
        </p:nvSpPr>
        <p:spPr>
          <a:xfrm>
            <a:off x="9162288" y="2715768"/>
            <a:ext cx="2331720" cy="1051560"/>
          </a:xfrm>
          <a:prstGeom prst="rect">
            <a:avLst/>
          </a:prstGeom>
          <a:noFill/>
          <a:ln/>
        </p:spPr>
        <p:txBody>
          <a:bodyPr wrap="square" lIns="0" tIns="0" rIns="0" bIns="0" rtlCol="0" anchor="t"/>
          <a:lstStyle/>
          <a:p>
            <a:pPr indent="0" marL="0">
              <a:lnSpc>
                <a:spcPct val="110000"/>
              </a:lnSpc>
              <a:buNone/>
            </a:pPr>
            <a:r>
              <a:rPr lang="en-US" sz="1250" dirty="0">
                <a:solidFill>
                  <a:srgbClr val="1B2430"/>
                </a:solidFill>
                <a:latin typeface="Calibri" pitchFamily="34" charset="0"/>
                <a:ea typeface="Calibri" pitchFamily="34" charset="-122"/>
                <a:cs typeface="Calibri" pitchFamily="34" charset="-120"/>
              </a:rPr>
              <a:t>Capture the incoming parity byte.</a:t>
            </a:r>
            <a:endParaRPr lang="en-US" sz="1250" dirty="0"/>
          </a:p>
        </p:txBody>
      </p:sp>
      <p:sp>
        <p:nvSpPr>
          <p:cNvPr id="27" name="Shape 25"/>
          <p:cNvSpPr/>
          <p:nvPr/>
        </p:nvSpPr>
        <p:spPr>
          <a:xfrm>
            <a:off x="548640" y="4023360"/>
            <a:ext cx="2651760" cy="1691640"/>
          </a:xfrm>
          <a:prstGeom prst="roundRect">
            <a:avLst>
              <a:gd name="adj" fmla="val 4865"/>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28" name="Shape 26"/>
          <p:cNvSpPr/>
          <p:nvPr/>
        </p:nvSpPr>
        <p:spPr>
          <a:xfrm>
            <a:off x="548640" y="4023360"/>
            <a:ext cx="2651760" cy="457200"/>
          </a:xfrm>
          <a:prstGeom prst="roundRect">
            <a:avLst>
              <a:gd name="adj" fmla="val 16000"/>
            </a:avLst>
          </a:prstGeom>
          <a:solidFill>
            <a:srgbClr val="F2A65A"/>
          </a:solidFill>
          <a:ln/>
        </p:spPr>
      </p:sp>
      <p:sp>
        <p:nvSpPr>
          <p:cNvPr id="29" name="Text 27"/>
          <p:cNvSpPr/>
          <p:nvPr/>
        </p:nvSpPr>
        <p:spPr>
          <a:xfrm>
            <a:off x="658368" y="4105656"/>
            <a:ext cx="310896" cy="292608"/>
          </a:xfrm>
          <a:prstGeom prst="rect">
            <a:avLst/>
          </a:prstGeom>
          <a:solidFill>
            <a:srgbClr val="FFFFFF"/>
          </a:solidFill>
          <a:ln/>
        </p:spPr>
        <p:txBody>
          <a:bodyPr wrap="square" lIns="0" tIns="0" rIns="0" bIns="0" rtlCol="0" anchor="ctr"/>
          <a:lstStyle/>
          <a:p>
            <a:pPr algn="ctr" indent="0" marL="0">
              <a:buNone/>
            </a:pPr>
            <a:r>
              <a:rPr lang="en-US" sz="1200" b="1" dirty="0">
                <a:solidFill>
                  <a:srgbClr val="F2A65A"/>
                </a:solidFill>
                <a:latin typeface="Calibri" pitchFamily="34" charset="0"/>
                <a:ea typeface="Calibri" pitchFamily="34" charset="-122"/>
                <a:cs typeface="Calibri" pitchFamily="34" charset="-120"/>
              </a:rPr>
              <a:t>4</a:t>
            </a:r>
            <a:endParaRPr lang="en-US" sz="1200" dirty="0"/>
          </a:p>
        </p:txBody>
      </p:sp>
      <p:sp>
        <p:nvSpPr>
          <p:cNvPr id="30" name="Text 28"/>
          <p:cNvSpPr/>
          <p:nvPr/>
        </p:nvSpPr>
        <p:spPr>
          <a:xfrm>
            <a:off x="1051560" y="4023360"/>
            <a:ext cx="21031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CHECK_PARITY_ERROR</a:t>
            </a:r>
            <a:endParaRPr lang="en-US" sz="1200" dirty="0"/>
          </a:p>
        </p:txBody>
      </p:sp>
      <p:sp>
        <p:nvSpPr>
          <p:cNvPr id="31" name="Text 29"/>
          <p:cNvSpPr/>
          <p:nvPr/>
        </p:nvSpPr>
        <p:spPr>
          <a:xfrm>
            <a:off x="713232" y="4590288"/>
            <a:ext cx="2331720" cy="1051560"/>
          </a:xfrm>
          <a:prstGeom prst="rect">
            <a:avLst/>
          </a:prstGeom>
          <a:noFill/>
          <a:ln/>
        </p:spPr>
        <p:txBody>
          <a:bodyPr wrap="square" lIns="0" tIns="0" rIns="0" bIns="0" rtlCol="0" anchor="t"/>
          <a:lstStyle/>
          <a:p>
            <a:pPr indent="0" marL="0">
              <a:lnSpc>
                <a:spcPct val="110000"/>
              </a:lnSpc>
              <a:buNone/>
            </a:pPr>
            <a:r>
              <a:rPr lang="en-US" sz="1250" dirty="0">
                <a:solidFill>
                  <a:srgbClr val="1B2430"/>
                </a:solidFill>
                <a:latin typeface="Calibri" pitchFamily="34" charset="0"/>
                <a:ea typeface="Calibri" pitchFamily="34" charset="-122"/>
                <a:cs typeface="Calibri" pitchFamily="34" charset="-120"/>
              </a:rPr>
              <a:t>Compare parity → set error flag.</a:t>
            </a:r>
            <a:endParaRPr lang="en-US" sz="1250" dirty="0"/>
          </a:p>
        </p:txBody>
      </p:sp>
      <p:sp>
        <p:nvSpPr>
          <p:cNvPr id="32" name="Shape 30"/>
          <p:cNvSpPr/>
          <p:nvPr/>
        </p:nvSpPr>
        <p:spPr>
          <a:xfrm>
            <a:off x="3364992" y="4023360"/>
            <a:ext cx="2651760" cy="1691640"/>
          </a:xfrm>
          <a:prstGeom prst="roundRect">
            <a:avLst>
              <a:gd name="adj" fmla="val 4865"/>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33" name="Shape 31"/>
          <p:cNvSpPr/>
          <p:nvPr/>
        </p:nvSpPr>
        <p:spPr>
          <a:xfrm>
            <a:off x="3364992" y="4023360"/>
            <a:ext cx="2651760" cy="457200"/>
          </a:xfrm>
          <a:prstGeom prst="roundRect">
            <a:avLst>
              <a:gd name="adj" fmla="val 16000"/>
            </a:avLst>
          </a:prstGeom>
          <a:solidFill>
            <a:srgbClr val="B85042"/>
          </a:solidFill>
          <a:ln/>
        </p:spPr>
      </p:sp>
      <p:sp>
        <p:nvSpPr>
          <p:cNvPr id="34" name="Text 32"/>
          <p:cNvSpPr/>
          <p:nvPr/>
        </p:nvSpPr>
        <p:spPr>
          <a:xfrm>
            <a:off x="3474720" y="4105656"/>
            <a:ext cx="310896" cy="292608"/>
          </a:xfrm>
          <a:prstGeom prst="rect">
            <a:avLst/>
          </a:prstGeom>
          <a:solidFill>
            <a:srgbClr val="FFFFFF"/>
          </a:solidFill>
          <a:ln/>
        </p:spPr>
        <p:txBody>
          <a:bodyPr wrap="square" lIns="0" tIns="0" rIns="0" bIns="0" rtlCol="0" anchor="ctr"/>
          <a:lstStyle/>
          <a:p>
            <a:pPr algn="ctr" indent="0" marL="0">
              <a:buNone/>
            </a:pPr>
            <a:r>
              <a:rPr lang="en-US" sz="1200" b="1" dirty="0">
                <a:solidFill>
                  <a:srgbClr val="B85042"/>
                </a:solidFill>
                <a:latin typeface="Calibri" pitchFamily="34" charset="0"/>
                <a:ea typeface="Calibri" pitchFamily="34" charset="-122"/>
                <a:cs typeface="Calibri" pitchFamily="34" charset="-120"/>
              </a:rPr>
              <a:t>5</a:t>
            </a:r>
            <a:endParaRPr lang="en-US" sz="1200" dirty="0"/>
          </a:p>
        </p:txBody>
      </p:sp>
      <p:sp>
        <p:nvSpPr>
          <p:cNvPr id="35" name="Text 33"/>
          <p:cNvSpPr/>
          <p:nvPr/>
        </p:nvSpPr>
        <p:spPr>
          <a:xfrm>
            <a:off x="3867912" y="4023360"/>
            <a:ext cx="21031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FIFO_FULL_STATE</a:t>
            </a:r>
            <a:endParaRPr lang="en-US" sz="1200" dirty="0"/>
          </a:p>
        </p:txBody>
      </p:sp>
      <p:sp>
        <p:nvSpPr>
          <p:cNvPr id="36" name="Text 34"/>
          <p:cNvSpPr/>
          <p:nvPr/>
        </p:nvSpPr>
        <p:spPr>
          <a:xfrm>
            <a:off x="3529584" y="4590288"/>
            <a:ext cx="2331720" cy="1051560"/>
          </a:xfrm>
          <a:prstGeom prst="rect">
            <a:avLst/>
          </a:prstGeom>
          <a:noFill/>
          <a:ln/>
        </p:spPr>
        <p:txBody>
          <a:bodyPr wrap="square" lIns="0" tIns="0" rIns="0" bIns="0" rtlCol="0" anchor="t"/>
          <a:lstStyle/>
          <a:p>
            <a:pPr indent="0" marL="0">
              <a:lnSpc>
                <a:spcPct val="110000"/>
              </a:lnSpc>
              <a:buNone/>
            </a:pPr>
            <a:r>
              <a:rPr lang="en-US" sz="1250" dirty="0">
                <a:solidFill>
                  <a:srgbClr val="1B2430"/>
                </a:solidFill>
                <a:latin typeface="Calibri" pitchFamily="34" charset="0"/>
                <a:ea typeface="Calibri" pitchFamily="34" charset="-122"/>
                <a:cs typeface="Calibri" pitchFamily="34" charset="-120"/>
              </a:rPr>
              <a:t>FIFO full — stall, hold the byte.</a:t>
            </a:r>
            <a:endParaRPr lang="en-US" sz="1250" dirty="0"/>
          </a:p>
        </p:txBody>
      </p:sp>
      <p:sp>
        <p:nvSpPr>
          <p:cNvPr id="37" name="Shape 35"/>
          <p:cNvSpPr/>
          <p:nvPr/>
        </p:nvSpPr>
        <p:spPr>
          <a:xfrm>
            <a:off x="6181344" y="4023360"/>
            <a:ext cx="2651760" cy="1691640"/>
          </a:xfrm>
          <a:prstGeom prst="roundRect">
            <a:avLst>
              <a:gd name="adj" fmla="val 4865"/>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38" name="Shape 36"/>
          <p:cNvSpPr/>
          <p:nvPr/>
        </p:nvSpPr>
        <p:spPr>
          <a:xfrm>
            <a:off x="6181344" y="4023360"/>
            <a:ext cx="2651760" cy="457200"/>
          </a:xfrm>
          <a:prstGeom prst="roundRect">
            <a:avLst>
              <a:gd name="adj" fmla="val 16000"/>
            </a:avLst>
          </a:prstGeom>
          <a:solidFill>
            <a:srgbClr val="B85042"/>
          </a:solidFill>
          <a:ln/>
        </p:spPr>
      </p:sp>
      <p:sp>
        <p:nvSpPr>
          <p:cNvPr id="39" name="Text 37"/>
          <p:cNvSpPr/>
          <p:nvPr/>
        </p:nvSpPr>
        <p:spPr>
          <a:xfrm>
            <a:off x="6291072" y="4105656"/>
            <a:ext cx="310896" cy="292608"/>
          </a:xfrm>
          <a:prstGeom prst="rect">
            <a:avLst/>
          </a:prstGeom>
          <a:solidFill>
            <a:srgbClr val="FFFFFF"/>
          </a:solidFill>
          <a:ln/>
        </p:spPr>
        <p:txBody>
          <a:bodyPr wrap="square" lIns="0" tIns="0" rIns="0" bIns="0" rtlCol="0" anchor="ctr"/>
          <a:lstStyle/>
          <a:p>
            <a:pPr algn="ctr" indent="0" marL="0">
              <a:buNone/>
            </a:pPr>
            <a:r>
              <a:rPr lang="en-US" sz="1200" b="1" dirty="0">
                <a:solidFill>
                  <a:srgbClr val="B85042"/>
                </a:solidFill>
                <a:latin typeface="Calibri" pitchFamily="34" charset="0"/>
                <a:ea typeface="Calibri" pitchFamily="34" charset="-122"/>
                <a:cs typeface="Calibri" pitchFamily="34" charset="-120"/>
              </a:rPr>
              <a:t>6</a:t>
            </a:r>
            <a:endParaRPr lang="en-US" sz="1200" dirty="0"/>
          </a:p>
        </p:txBody>
      </p:sp>
      <p:sp>
        <p:nvSpPr>
          <p:cNvPr id="40" name="Text 38"/>
          <p:cNvSpPr/>
          <p:nvPr/>
        </p:nvSpPr>
        <p:spPr>
          <a:xfrm>
            <a:off x="6684264" y="4023360"/>
            <a:ext cx="21031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LOAD_AFTER_FULL</a:t>
            </a:r>
            <a:endParaRPr lang="en-US" sz="1200" dirty="0"/>
          </a:p>
        </p:txBody>
      </p:sp>
      <p:sp>
        <p:nvSpPr>
          <p:cNvPr id="41" name="Text 39"/>
          <p:cNvSpPr/>
          <p:nvPr/>
        </p:nvSpPr>
        <p:spPr>
          <a:xfrm>
            <a:off x="6345936" y="4590288"/>
            <a:ext cx="2331720" cy="1051560"/>
          </a:xfrm>
          <a:prstGeom prst="rect">
            <a:avLst/>
          </a:prstGeom>
          <a:noFill/>
          <a:ln/>
        </p:spPr>
        <p:txBody>
          <a:bodyPr wrap="square" lIns="0" tIns="0" rIns="0" bIns="0" rtlCol="0" anchor="t"/>
          <a:lstStyle/>
          <a:p>
            <a:pPr indent="0" marL="0">
              <a:lnSpc>
                <a:spcPct val="110000"/>
              </a:lnSpc>
              <a:buNone/>
            </a:pPr>
            <a:r>
              <a:rPr lang="en-US" sz="1250" dirty="0">
                <a:solidFill>
                  <a:srgbClr val="1B2430"/>
                </a:solidFill>
                <a:latin typeface="Calibri" pitchFamily="34" charset="0"/>
                <a:ea typeface="Calibri" pitchFamily="34" charset="-122"/>
                <a:cs typeface="Calibri" pitchFamily="34" charset="-120"/>
              </a:rPr>
              <a:t>Resume once FIFO has space again.</a:t>
            </a:r>
            <a:endParaRPr lang="en-US" sz="1250" dirty="0"/>
          </a:p>
        </p:txBody>
      </p:sp>
      <p:sp>
        <p:nvSpPr>
          <p:cNvPr id="42" name="Shape 40"/>
          <p:cNvSpPr/>
          <p:nvPr/>
        </p:nvSpPr>
        <p:spPr>
          <a:xfrm>
            <a:off x="8997696" y="4023360"/>
            <a:ext cx="2651760" cy="1691640"/>
          </a:xfrm>
          <a:prstGeom prst="roundRect">
            <a:avLst>
              <a:gd name="adj" fmla="val 4865"/>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43" name="Shape 41"/>
          <p:cNvSpPr/>
          <p:nvPr/>
        </p:nvSpPr>
        <p:spPr>
          <a:xfrm>
            <a:off x="8997696" y="4023360"/>
            <a:ext cx="2651760" cy="457200"/>
          </a:xfrm>
          <a:prstGeom prst="roundRect">
            <a:avLst>
              <a:gd name="adj" fmla="val 16000"/>
            </a:avLst>
          </a:prstGeom>
          <a:solidFill>
            <a:srgbClr val="6D6875"/>
          </a:solidFill>
          <a:ln/>
        </p:spPr>
      </p:sp>
      <p:sp>
        <p:nvSpPr>
          <p:cNvPr id="44" name="Text 42"/>
          <p:cNvSpPr/>
          <p:nvPr/>
        </p:nvSpPr>
        <p:spPr>
          <a:xfrm>
            <a:off x="9107424" y="4105656"/>
            <a:ext cx="310896" cy="292608"/>
          </a:xfrm>
          <a:prstGeom prst="rect">
            <a:avLst/>
          </a:prstGeom>
          <a:solidFill>
            <a:srgbClr val="FFFFFF"/>
          </a:solidFill>
          <a:ln/>
        </p:spPr>
        <p:txBody>
          <a:bodyPr wrap="square" lIns="0" tIns="0" rIns="0" bIns="0" rtlCol="0" anchor="ctr"/>
          <a:lstStyle/>
          <a:p>
            <a:pPr algn="ctr" indent="0" marL="0">
              <a:buNone/>
            </a:pPr>
            <a:r>
              <a:rPr lang="en-US" sz="1200" b="1" dirty="0">
                <a:solidFill>
                  <a:srgbClr val="6D6875"/>
                </a:solidFill>
                <a:latin typeface="Calibri" pitchFamily="34" charset="0"/>
                <a:ea typeface="Calibri" pitchFamily="34" charset="-122"/>
                <a:cs typeface="Calibri" pitchFamily="34" charset="-120"/>
              </a:rPr>
              <a:t>7</a:t>
            </a:r>
            <a:endParaRPr lang="en-US" sz="1200" dirty="0"/>
          </a:p>
        </p:txBody>
      </p:sp>
      <p:sp>
        <p:nvSpPr>
          <p:cNvPr id="45" name="Text 43"/>
          <p:cNvSpPr/>
          <p:nvPr/>
        </p:nvSpPr>
        <p:spPr>
          <a:xfrm>
            <a:off x="9500616" y="4023360"/>
            <a:ext cx="210312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WAIT_TILL_EMPTY</a:t>
            </a:r>
            <a:endParaRPr lang="en-US" sz="1200" dirty="0"/>
          </a:p>
        </p:txBody>
      </p:sp>
      <p:sp>
        <p:nvSpPr>
          <p:cNvPr id="46" name="Text 44"/>
          <p:cNvSpPr/>
          <p:nvPr/>
        </p:nvSpPr>
        <p:spPr>
          <a:xfrm>
            <a:off x="9162288" y="4590288"/>
            <a:ext cx="2331720" cy="1051560"/>
          </a:xfrm>
          <a:prstGeom prst="rect">
            <a:avLst/>
          </a:prstGeom>
          <a:noFill/>
          <a:ln/>
        </p:spPr>
        <p:txBody>
          <a:bodyPr wrap="square" lIns="0" tIns="0" rIns="0" bIns="0" rtlCol="0" anchor="t"/>
          <a:lstStyle/>
          <a:p>
            <a:pPr indent="0" marL="0">
              <a:lnSpc>
                <a:spcPct val="110000"/>
              </a:lnSpc>
              <a:buNone/>
            </a:pPr>
            <a:r>
              <a:rPr lang="en-US" sz="1250" dirty="0">
                <a:solidFill>
                  <a:srgbClr val="1B2430"/>
                </a:solidFill>
                <a:latin typeface="Calibri" pitchFamily="34" charset="0"/>
                <a:ea typeface="Calibri" pitchFamily="34" charset="-122"/>
                <a:cs typeface="Calibri" pitchFamily="34" charset="-120"/>
              </a:rPr>
              <a:t>Target busy — wait until it drains.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FSM DEEP-DIVE</a:t>
            </a:r>
            <a:endParaRPr lang="en-US" sz="1200" dirty="0"/>
          </a:p>
        </p:txBody>
      </p:sp>
      <p:sp>
        <p:nvSpPr>
          <p:cNvPr id="3" name="Text 1"/>
          <p:cNvSpPr/>
          <p:nvPr/>
        </p:nvSpPr>
        <p:spPr>
          <a:xfrm>
            <a:off x="548640" y="640080"/>
            <a:ext cx="1042416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Normal packet flow + branches</a:t>
            </a:r>
            <a:endParaRPr lang="en-US" sz="3000" dirty="0"/>
          </a:p>
        </p:txBody>
      </p:sp>
      <p:sp>
        <p:nvSpPr>
          <p:cNvPr id="4" name="Shape 2"/>
          <p:cNvSpPr/>
          <p:nvPr/>
        </p:nvSpPr>
        <p:spPr>
          <a:xfrm>
            <a:off x="11292840" y="457200"/>
            <a:ext cx="502920" cy="502920"/>
          </a:xfrm>
          <a:prstGeom prst="ellipse">
            <a:avLst/>
          </a:prstGeom>
          <a:solidFill>
            <a:srgbClr val="21295C"/>
          </a:solidFill>
          <a:ln/>
        </p:spPr>
      </p:sp>
      <p:sp>
        <p:nvSpPr>
          <p:cNvPr id="5" name="Text 3"/>
          <p:cNvSpPr/>
          <p:nvPr/>
        </p:nvSpPr>
        <p:spPr>
          <a:xfrm>
            <a:off x="112928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6" name="Shape 4"/>
          <p:cNvSpPr/>
          <p:nvPr/>
        </p:nvSpPr>
        <p:spPr>
          <a:xfrm>
            <a:off x="640080" y="2011680"/>
            <a:ext cx="2011680" cy="1005840"/>
          </a:xfrm>
          <a:prstGeom prst="roundRect">
            <a:avLst>
              <a:gd name="adj" fmla="val 7273"/>
            </a:avLst>
          </a:prstGeom>
          <a:solidFill>
            <a:srgbClr val="065A82"/>
          </a:solidFill>
          <a:ln/>
          <a:effectLst>
            <a:outerShdw sx="100000" sy="100000" kx="0" ky="0" algn="bl" rotWithShape="0" blurRad="101600" dist="38100" dir="5400000">
              <a:srgbClr val="9AA8B5">
                <a:alpha val="35000"/>
              </a:srgbClr>
            </a:outerShdw>
          </a:effectLst>
        </p:spPr>
      </p:sp>
      <p:sp>
        <p:nvSpPr>
          <p:cNvPr id="7" name="Text 5"/>
          <p:cNvSpPr/>
          <p:nvPr/>
        </p:nvSpPr>
        <p:spPr>
          <a:xfrm>
            <a:off x="640080" y="2011680"/>
            <a:ext cx="201168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DECODE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ADDRESS</a:t>
            </a:r>
            <a:endParaRPr lang="en-US" sz="1300" dirty="0"/>
          </a:p>
        </p:txBody>
      </p:sp>
      <p:sp>
        <p:nvSpPr>
          <p:cNvPr id="8" name="Shape 6"/>
          <p:cNvSpPr/>
          <p:nvPr/>
        </p:nvSpPr>
        <p:spPr>
          <a:xfrm>
            <a:off x="2651760" y="2514600"/>
            <a:ext cx="164592" cy="0"/>
          </a:xfrm>
          <a:prstGeom prst="line">
            <a:avLst/>
          </a:prstGeom>
          <a:noFill/>
          <a:ln w="31750">
            <a:solidFill>
              <a:srgbClr val="21295C"/>
            </a:solidFill>
            <a:prstDash val="solid"/>
            <a:tailEnd type="triangle"/>
          </a:ln>
        </p:spPr>
      </p:sp>
      <p:sp>
        <p:nvSpPr>
          <p:cNvPr id="9" name="Shape 7"/>
          <p:cNvSpPr/>
          <p:nvPr/>
        </p:nvSpPr>
        <p:spPr>
          <a:xfrm>
            <a:off x="2816352" y="2011680"/>
            <a:ext cx="2011680" cy="1005840"/>
          </a:xfrm>
          <a:prstGeom prst="roundRect">
            <a:avLst>
              <a:gd name="adj" fmla="val 7273"/>
            </a:avLst>
          </a:prstGeom>
          <a:solidFill>
            <a:srgbClr val="1C7293"/>
          </a:solidFill>
          <a:ln/>
          <a:effectLst>
            <a:outerShdw sx="100000" sy="100000" kx="0" ky="0" algn="bl" rotWithShape="0" blurRad="101600" dist="38100" dir="5400000">
              <a:srgbClr val="9AA8B5">
                <a:alpha val="35000"/>
              </a:srgbClr>
            </a:outerShdw>
          </a:effectLst>
        </p:spPr>
      </p:sp>
      <p:sp>
        <p:nvSpPr>
          <p:cNvPr id="10" name="Text 8"/>
          <p:cNvSpPr/>
          <p:nvPr/>
        </p:nvSpPr>
        <p:spPr>
          <a:xfrm>
            <a:off x="2816352" y="2011680"/>
            <a:ext cx="201168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LOAD_FIRST</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DATA</a:t>
            </a:r>
            <a:endParaRPr lang="en-US" sz="1300" dirty="0"/>
          </a:p>
        </p:txBody>
      </p:sp>
      <p:sp>
        <p:nvSpPr>
          <p:cNvPr id="11" name="Shape 9"/>
          <p:cNvSpPr/>
          <p:nvPr/>
        </p:nvSpPr>
        <p:spPr>
          <a:xfrm>
            <a:off x="4828032" y="2514600"/>
            <a:ext cx="164592" cy="0"/>
          </a:xfrm>
          <a:prstGeom prst="line">
            <a:avLst/>
          </a:prstGeom>
          <a:noFill/>
          <a:ln w="31750">
            <a:solidFill>
              <a:srgbClr val="21295C"/>
            </a:solidFill>
            <a:prstDash val="solid"/>
            <a:tailEnd type="triangle"/>
          </a:ln>
        </p:spPr>
      </p:sp>
      <p:sp>
        <p:nvSpPr>
          <p:cNvPr id="12" name="Shape 10"/>
          <p:cNvSpPr/>
          <p:nvPr/>
        </p:nvSpPr>
        <p:spPr>
          <a:xfrm>
            <a:off x="4992624" y="2011680"/>
            <a:ext cx="2011680" cy="1005840"/>
          </a:xfrm>
          <a:prstGeom prst="roundRect">
            <a:avLst>
              <a:gd name="adj" fmla="val 7273"/>
            </a:avLst>
          </a:prstGeom>
          <a:solidFill>
            <a:srgbClr val="1C7293"/>
          </a:solidFill>
          <a:ln/>
          <a:effectLst>
            <a:outerShdw sx="100000" sy="100000" kx="0" ky="0" algn="bl" rotWithShape="0" blurRad="101600" dist="38100" dir="5400000">
              <a:srgbClr val="9AA8B5">
                <a:alpha val="35000"/>
              </a:srgbClr>
            </a:outerShdw>
          </a:effectLst>
        </p:spPr>
      </p:sp>
      <p:sp>
        <p:nvSpPr>
          <p:cNvPr id="13" name="Text 11"/>
          <p:cNvSpPr/>
          <p:nvPr/>
        </p:nvSpPr>
        <p:spPr>
          <a:xfrm>
            <a:off x="4992624" y="2011680"/>
            <a:ext cx="201168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LOAD</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DATA</a:t>
            </a:r>
            <a:endParaRPr lang="en-US" sz="1300" dirty="0"/>
          </a:p>
        </p:txBody>
      </p:sp>
      <p:sp>
        <p:nvSpPr>
          <p:cNvPr id="14" name="Shape 12"/>
          <p:cNvSpPr/>
          <p:nvPr/>
        </p:nvSpPr>
        <p:spPr>
          <a:xfrm>
            <a:off x="7004304" y="2514600"/>
            <a:ext cx="164592" cy="0"/>
          </a:xfrm>
          <a:prstGeom prst="line">
            <a:avLst/>
          </a:prstGeom>
          <a:noFill/>
          <a:ln w="31750">
            <a:solidFill>
              <a:srgbClr val="21295C"/>
            </a:solidFill>
            <a:prstDash val="solid"/>
            <a:tailEnd type="triangle"/>
          </a:ln>
        </p:spPr>
      </p:sp>
      <p:sp>
        <p:nvSpPr>
          <p:cNvPr id="15" name="Shape 13"/>
          <p:cNvSpPr/>
          <p:nvPr/>
        </p:nvSpPr>
        <p:spPr>
          <a:xfrm>
            <a:off x="7168896" y="2011680"/>
            <a:ext cx="2011680" cy="1005840"/>
          </a:xfrm>
          <a:prstGeom prst="roundRect">
            <a:avLst>
              <a:gd name="adj" fmla="val 7273"/>
            </a:avLst>
          </a:prstGeom>
          <a:solidFill>
            <a:srgbClr val="F2A65A"/>
          </a:solidFill>
          <a:ln/>
          <a:effectLst>
            <a:outerShdw sx="100000" sy="100000" kx="0" ky="0" algn="bl" rotWithShape="0" blurRad="101600" dist="38100" dir="5400000">
              <a:srgbClr val="9AA8B5">
                <a:alpha val="35000"/>
              </a:srgbClr>
            </a:outerShdw>
          </a:effectLst>
        </p:spPr>
      </p:sp>
      <p:sp>
        <p:nvSpPr>
          <p:cNvPr id="16" name="Text 14"/>
          <p:cNvSpPr/>
          <p:nvPr/>
        </p:nvSpPr>
        <p:spPr>
          <a:xfrm>
            <a:off x="7168896" y="2011680"/>
            <a:ext cx="201168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LOAD</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PARITY</a:t>
            </a:r>
            <a:endParaRPr lang="en-US" sz="1300" dirty="0"/>
          </a:p>
        </p:txBody>
      </p:sp>
      <p:sp>
        <p:nvSpPr>
          <p:cNvPr id="17" name="Shape 15"/>
          <p:cNvSpPr/>
          <p:nvPr/>
        </p:nvSpPr>
        <p:spPr>
          <a:xfrm>
            <a:off x="9180576" y="2514600"/>
            <a:ext cx="164592" cy="0"/>
          </a:xfrm>
          <a:prstGeom prst="line">
            <a:avLst/>
          </a:prstGeom>
          <a:noFill/>
          <a:ln w="31750">
            <a:solidFill>
              <a:srgbClr val="21295C"/>
            </a:solidFill>
            <a:prstDash val="solid"/>
            <a:tailEnd type="triangle"/>
          </a:ln>
        </p:spPr>
      </p:sp>
      <p:sp>
        <p:nvSpPr>
          <p:cNvPr id="18" name="Shape 16"/>
          <p:cNvSpPr/>
          <p:nvPr/>
        </p:nvSpPr>
        <p:spPr>
          <a:xfrm>
            <a:off x="9345168" y="2011680"/>
            <a:ext cx="2011680" cy="1005840"/>
          </a:xfrm>
          <a:prstGeom prst="roundRect">
            <a:avLst>
              <a:gd name="adj" fmla="val 7273"/>
            </a:avLst>
          </a:prstGeom>
          <a:solidFill>
            <a:srgbClr val="F2A65A"/>
          </a:solidFill>
          <a:ln/>
          <a:effectLst>
            <a:outerShdw sx="100000" sy="100000" kx="0" ky="0" algn="bl" rotWithShape="0" blurRad="101600" dist="38100" dir="5400000">
              <a:srgbClr val="9AA8B5">
                <a:alpha val="35000"/>
              </a:srgbClr>
            </a:outerShdw>
          </a:effectLst>
        </p:spPr>
      </p:sp>
      <p:sp>
        <p:nvSpPr>
          <p:cNvPr id="19" name="Text 17"/>
          <p:cNvSpPr/>
          <p:nvPr/>
        </p:nvSpPr>
        <p:spPr>
          <a:xfrm>
            <a:off x="9345168" y="2011680"/>
            <a:ext cx="201168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CHECK_PARITY</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ERROR</a:t>
            </a:r>
            <a:endParaRPr lang="en-US" sz="1300" dirty="0"/>
          </a:p>
        </p:txBody>
      </p:sp>
      <p:sp>
        <p:nvSpPr>
          <p:cNvPr id="20" name="Shape 18"/>
          <p:cNvSpPr/>
          <p:nvPr/>
        </p:nvSpPr>
        <p:spPr>
          <a:xfrm>
            <a:off x="11356848" y="3017520"/>
            <a:ext cx="0" cy="502920"/>
          </a:xfrm>
          <a:prstGeom prst="line">
            <a:avLst/>
          </a:prstGeom>
          <a:noFill/>
          <a:ln w="25400">
            <a:solidFill>
              <a:srgbClr val="065A82"/>
            </a:solidFill>
            <a:prstDash val="solid"/>
            <a:tailEnd type="triangle"/>
          </a:ln>
        </p:spPr>
      </p:sp>
      <p:sp>
        <p:nvSpPr>
          <p:cNvPr id="21" name="Text 19"/>
          <p:cNvSpPr/>
          <p:nvPr/>
        </p:nvSpPr>
        <p:spPr>
          <a:xfrm>
            <a:off x="6858000" y="3200400"/>
            <a:ext cx="4754880" cy="365760"/>
          </a:xfrm>
          <a:prstGeom prst="rect">
            <a:avLst/>
          </a:prstGeom>
          <a:noFill/>
          <a:ln/>
        </p:spPr>
        <p:txBody>
          <a:bodyPr wrap="square" lIns="0" tIns="0" rIns="0" bIns="0" rtlCol="0" anchor="ctr"/>
          <a:lstStyle/>
          <a:p>
            <a:pPr indent="0" marL="0">
              <a:buNone/>
            </a:pPr>
            <a:r>
              <a:rPr lang="en-US" sz="1300" b="1" i="1" dirty="0">
                <a:solidFill>
                  <a:srgbClr val="065A82"/>
                </a:solidFill>
                <a:latin typeface="Calibri" pitchFamily="34" charset="0"/>
                <a:ea typeface="Calibri" pitchFamily="34" charset="-122"/>
                <a:cs typeface="Calibri" pitchFamily="34" charset="-120"/>
              </a:rPr>
              <a:t>→ back to DECODE_ADDRESS for the next packet</a:t>
            </a:r>
            <a:endParaRPr lang="en-US" sz="1300" dirty="0"/>
          </a:p>
        </p:txBody>
      </p:sp>
      <p:sp>
        <p:nvSpPr>
          <p:cNvPr id="22" name="Shape 20"/>
          <p:cNvSpPr/>
          <p:nvPr/>
        </p:nvSpPr>
        <p:spPr>
          <a:xfrm>
            <a:off x="640080" y="3977640"/>
            <a:ext cx="5394960" cy="2194560"/>
          </a:xfrm>
          <a:prstGeom prst="roundRect">
            <a:avLst>
              <a:gd name="adj" fmla="val 3750"/>
            </a:avLst>
          </a:prstGeom>
          <a:solidFill>
            <a:srgbClr val="FBEDE9"/>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23" name="Text 21"/>
          <p:cNvSpPr/>
          <p:nvPr/>
        </p:nvSpPr>
        <p:spPr>
          <a:xfrm>
            <a:off x="914400" y="4206240"/>
            <a:ext cx="4937760" cy="365760"/>
          </a:xfrm>
          <a:prstGeom prst="rect">
            <a:avLst/>
          </a:prstGeom>
          <a:noFill/>
          <a:ln/>
        </p:spPr>
        <p:txBody>
          <a:bodyPr wrap="square" lIns="0" tIns="0" rIns="0" bIns="0" rtlCol="0" anchor="ctr"/>
          <a:lstStyle/>
          <a:p>
            <a:pPr indent="0" marL="0">
              <a:buNone/>
            </a:pPr>
            <a:r>
              <a:rPr lang="en-US" sz="1500" b="1" dirty="0">
                <a:solidFill>
                  <a:srgbClr val="B85042"/>
                </a:solidFill>
                <a:latin typeface="Calibri" pitchFamily="34" charset="0"/>
                <a:ea typeface="Calibri" pitchFamily="34" charset="-122"/>
                <a:cs typeface="Calibri" pitchFamily="34" charset="-120"/>
              </a:rPr>
              <a:t>Branch: FIFO fills up mid-packet</a:t>
            </a:r>
            <a:endParaRPr lang="en-US" sz="1500" dirty="0"/>
          </a:p>
        </p:txBody>
      </p:sp>
      <p:sp>
        <p:nvSpPr>
          <p:cNvPr id="24" name="Text 22"/>
          <p:cNvSpPr/>
          <p:nvPr/>
        </p:nvSpPr>
        <p:spPr>
          <a:xfrm>
            <a:off x="914400" y="4663440"/>
            <a:ext cx="4937760" cy="45720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LOAD_DATA </a:t>
            </a:r>
            <a:pPr indent="0" marL="0">
              <a:buNone/>
            </a:pPr>
            <a:r>
              <a:rPr lang="en-US" sz="1400" dirty="0">
                <a:solidFill>
                  <a:srgbClr val="1B2430"/>
                </a:solidFill>
                <a:latin typeface="Calibri" pitchFamily="34" charset="0"/>
                <a:ea typeface="Calibri" pitchFamily="34" charset="-122"/>
                <a:cs typeface="Calibri" pitchFamily="34" charset="-120"/>
              </a:rPr>
              <a:t>→ </a:t>
            </a:r>
            <a:pPr indent="0" marL="0">
              <a:buNone/>
            </a:pPr>
            <a:r>
              <a:rPr lang="en-US" sz="1400" b="1" dirty="0">
                <a:solidFill>
                  <a:srgbClr val="1B2430"/>
                </a:solidFill>
                <a:latin typeface="Calibri" pitchFamily="34" charset="0"/>
                <a:ea typeface="Calibri" pitchFamily="34" charset="-122"/>
                <a:cs typeface="Calibri" pitchFamily="34" charset="-120"/>
              </a:rPr>
              <a:t>FIFO_FULL_STATE </a:t>
            </a:r>
            <a:pPr indent="0" marL="0">
              <a:buNone/>
            </a:pPr>
            <a:r>
              <a:rPr lang="en-US" sz="1400" dirty="0">
                <a:solidFill>
                  <a:srgbClr val="1B2430"/>
                </a:solidFill>
                <a:latin typeface="Calibri" pitchFamily="34" charset="0"/>
                <a:ea typeface="Calibri" pitchFamily="34" charset="-122"/>
                <a:cs typeface="Calibri" pitchFamily="34" charset="-120"/>
              </a:rPr>
              <a:t>→ </a:t>
            </a:r>
            <a:pPr indent="0" marL="0">
              <a:buNone/>
            </a:pPr>
            <a:r>
              <a:rPr lang="en-US" sz="1400" b="1" dirty="0">
                <a:solidFill>
                  <a:srgbClr val="1B2430"/>
                </a:solidFill>
                <a:latin typeface="Calibri" pitchFamily="34" charset="0"/>
                <a:ea typeface="Calibri" pitchFamily="34" charset="-122"/>
                <a:cs typeface="Calibri" pitchFamily="34" charset="-120"/>
              </a:rPr>
              <a:t>LOAD_AFTER_FULL</a:t>
            </a:r>
            <a:endParaRPr lang="en-US" sz="1400" dirty="0"/>
          </a:p>
        </p:txBody>
      </p:sp>
      <p:sp>
        <p:nvSpPr>
          <p:cNvPr id="25" name="Text 23"/>
          <p:cNvSpPr/>
          <p:nvPr/>
        </p:nvSpPr>
        <p:spPr>
          <a:xfrm>
            <a:off x="914400" y="5120640"/>
            <a:ext cx="4937760" cy="914400"/>
          </a:xfrm>
          <a:prstGeom prst="rect">
            <a:avLst/>
          </a:prstGeom>
          <a:noFill/>
          <a:ln/>
        </p:spPr>
        <p:txBody>
          <a:bodyPr wrap="square" lIns="0" tIns="0" rIns="0" bIns="0" rtlCol="0" anchor="ctr"/>
          <a:lstStyle/>
          <a:p>
            <a:pPr indent="0" marL="0">
              <a:lnSpc>
                <a:spcPct val="110000"/>
              </a:lnSpc>
              <a:buNone/>
            </a:pPr>
            <a:r>
              <a:rPr lang="en-US" sz="1300" dirty="0">
                <a:solidFill>
                  <a:srgbClr val="5B6B7B"/>
                </a:solidFill>
                <a:latin typeface="Calibri" pitchFamily="34" charset="0"/>
                <a:ea typeface="Calibri" pitchFamily="34" charset="-122"/>
                <a:cs typeface="Calibri" pitchFamily="34" charset="-120"/>
              </a:rPr>
              <a:t>The byte that couldn't be written is parked in an internal register (full_state_byte) and pushed in the moment space frees up — no data lost.</a:t>
            </a:r>
            <a:endParaRPr lang="en-US" sz="1300" dirty="0"/>
          </a:p>
        </p:txBody>
      </p:sp>
      <p:sp>
        <p:nvSpPr>
          <p:cNvPr id="26" name="Shape 24"/>
          <p:cNvSpPr/>
          <p:nvPr/>
        </p:nvSpPr>
        <p:spPr>
          <a:xfrm>
            <a:off x="6217920" y="3977640"/>
            <a:ext cx="5394960" cy="2194560"/>
          </a:xfrm>
          <a:prstGeom prst="roundRect">
            <a:avLst>
              <a:gd name="adj" fmla="val 3750"/>
            </a:avLst>
          </a:prstGeom>
          <a:solidFill>
            <a:srgbClr val="EAF0F5"/>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27" name="Text 25"/>
          <p:cNvSpPr/>
          <p:nvPr/>
        </p:nvSpPr>
        <p:spPr>
          <a:xfrm>
            <a:off x="6492240" y="4206240"/>
            <a:ext cx="4937760" cy="365760"/>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Branch: target channel is busy</a:t>
            </a:r>
            <a:endParaRPr lang="en-US" sz="1500" dirty="0"/>
          </a:p>
        </p:txBody>
      </p:sp>
      <p:sp>
        <p:nvSpPr>
          <p:cNvPr id="28" name="Text 26"/>
          <p:cNvSpPr/>
          <p:nvPr/>
        </p:nvSpPr>
        <p:spPr>
          <a:xfrm>
            <a:off x="6492240" y="4663440"/>
            <a:ext cx="4937760" cy="45720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DECODE_ADDRESS </a:t>
            </a:r>
            <a:pPr indent="0" marL="0">
              <a:buNone/>
            </a:pPr>
            <a:r>
              <a:rPr lang="en-US" sz="1400" dirty="0">
                <a:solidFill>
                  <a:srgbClr val="1B2430"/>
                </a:solidFill>
                <a:latin typeface="Calibri" pitchFamily="34" charset="0"/>
                <a:ea typeface="Calibri" pitchFamily="34" charset="-122"/>
                <a:cs typeface="Calibri" pitchFamily="34" charset="-120"/>
              </a:rPr>
              <a:t>→ </a:t>
            </a:r>
            <a:pPr indent="0" marL="0">
              <a:buNone/>
            </a:pPr>
            <a:r>
              <a:rPr lang="en-US" sz="1400" b="1" dirty="0">
                <a:solidFill>
                  <a:srgbClr val="1B2430"/>
                </a:solidFill>
                <a:latin typeface="Calibri" pitchFamily="34" charset="0"/>
                <a:ea typeface="Calibri" pitchFamily="34" charset="-122"/>
                <a:cs typeface="Calibri" pitchFamily="34" charset="-120"/>
              </a:rPr>
              <a:t>WAIT_TILL_EMPTY</a:t>
            </a:r>
            <a:endParaRPr lang="en-US" sz="1400" dirty="0"/>
          </a:p>
        </p:txBody>
      </p:sp>
      <p:sp>
        <p:nvSpPr>
          <p:cNvPr id="29" name="Text 27"/>
          <p:cNvSpPr/>
          <p:nvPr/>
        </p:nvSpPr>
        <p:spPr>
          <a:xfrm>
            <a:off x="6492240" y="5120640"/>
            <a:ext cx="4937760" cy="914400"/>
          </a:xfrm>
          <a:prstGeom prst="rect">
            <a:avLst/>
          </a:prstGeom>
          <a:noFill/>
          <a:ln/>
        </p:spPr>
        <p:txBody>
          <a:bodyPr wrap="square" lIns="0" tIns="0" rIns="0" bIns="0" rtlCol="0" anchor="ctr"/>
          <a:lstStyle/>
          <a:p>
            <a:pPr indent="0" marL="0">
              <a:lnSpc>
                <a:spcPct val="110000"/>
              </a:lnSpc>
              <a:buNone/>
            </a:pPr>
            <a:r>
              <a:rPr lang="en-US" sz="1300" dirty="0">
                <a:solidFill>
                  <a:srgbClr val="5B6B7B"/>
                </a:solidFill>
                <a:latin typeface="Calibri" pitchFamily="34" charset="0"/>
                <a:ea typeface="Calibri" pitchFamily="34" charset="-122"/>
                <a:cs typeface="Calibri" pitchFamily="34" charset="-120"/>
              </a:rPr>
              <a:t>If the addressed FIFO isn't empty, the FSM waits there until the previous packet is fully read, then starts loading — prevents mixing two packets in one FIFO.</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DATAPATH</a:t>
            </a:r>
            <a:endParaRPr lang="en-US" sz="1200" dirty="0"/>
          </a:p>
        </p:txBody>
      </p:sp>
      <p:sp>
        <p:nvSpPr>
          <p:cNvPr id="3" name="Text 1"/>
          <p:cNvSpPr/>
          <p:nvPr/>
        </p:nvSpPr>
        <p:spPr>
          <a:xfrm>
            <a:off x="548640" y="640080"/>
            <a:ext cx="1042416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router_reg — parity &amp; error</a:t>
            </a:r>
            <a:endParaRPr lang="en-US" sz="3000" dirty="0"/>
          </a:p>
        </p:txBody>
      </p:sp>
      <p:sp>
        <p:nvSpPr>
          <p:cNvPr id="4" name="Shape 2"/>
          <p:cNvSpPr/>
          <p:nvPr/>
        </p:nvSpPr>
        <p:spPr>
          <a:xfrm>
            <a:off x="11292840" y="457200"/>
            <a:ext cx="502920" cy="502920"/>
          </a:xfrm>
          <a:prstGeom prst="ellipse">
            <a:avLst/>
          </a:prstGeom>
          <a:solidFill>
            <a:srgbClr val="21295C"/>
          </a:solidFill>
          <a:ln/>
        </p:spPr>
      </p:sp>
      <p:sp>
        <p:nvSpPr>
          <p:cNvPr id="5" name="Text 3"/>
          <p:cNvSpPr/>
          <p:nvPr/>
        </p:nvSpPr>
        <p:spPr>
          <a:xfrm>
            <a:off x="112928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6" name="Text 4"/>
          <p:cNvSpPr/>
          <p:nvPr/>
        </p:nvSpPr>
        <p:spPr>
          <a:xfrm>
            <a:off x="548640" y="1463040"/>
            <a:ext cx="10972800" cy="45720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This block builds the byte that goes to the FIFO and does the packet's error checking.</a:t>
            </a:r>
            <a:endParaRPr lang="en-US" sz="1500" dirty="0"/>
          </a:p>
        </p:txBody>
      </p:sp>
      <p:sp>
        <p:nvSpPr>
          <p:cNvPr id="7" name="Shape 5"/>
          <p:cNvSpPr/>
          <p:nvPr/>
        </p:nvSpPr>
        <p:spPr>
          <a:xfrm>
            <a:off x="548640" y="2103120"/>
            <a:ext cx="5440680" cy="1874520"/>
          </a:xfrm>
          <a:prstGeom prst="roundRect">
            <a:avLst>
              <a:gd name="adj" fmla="val 4390"/>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8" name="Shape 6"/>
          <p:cNvSpPr/>
          <p:nvPr/>
        </p:nvSpPr>
        <p:spPr>
          <a:xfrm>
            <a:off x="822960" y="2377440"/>
            <a:ext cx="457200" cy="457200"/>
          </a:xfrm>
          <a:prstGeom prst="ellipse">
            <a:avLst/>
          </a:prstGeom>
          <a:solidFill>
            <a:srgbClr val="065A82"/>
          </a:solidFill>
          <a:ln/>
        </p:spPr>
      </p:sp>
      <p:sp>
        <p:nvSpPr>
          <p:cNvPr id="9" name="Text 7"/>
          <p:cNvSpPr/>
          <p:nvPr/>
        </p:nvSpPr>
        <p:spPr>
          <a:xfrm>
            <a:off x="822960" y="23774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1463040" y="2359152"/>
            <a:ext cx="429768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Byte assembly</a:t>
            </a:r>
            <a:endParaRPr lang="en-US" sz="1600" dirty="0"/>
          </a:p>
        </p:txBody>
      </p:sp>
      <p:sp>
        <p:nvSpPr>
          <p:cNvPr id="11" name="Text 9"/>
          <p:cNvSpPr/>
          <p:nvPr/>
        </p:nvSpPr>
        <p:spPr>
          <a:xfrm>
            <a:off x="868680" y="2926080"/>
            <a:ext cx="4846320" cy="914400"/>
          </a:xfrm>
          <a:prstGeom prst="rect">
            <a:avLst/>
          </a:prstGeom>
          <a:noFill/>
          <a:ln/>
        </p:spPr>
        <p:txBody>
          <a:bodyPr wrap="square" lIns="0" tIns="0" rIns="0" bIns="0" rtlCol="0" anchor="ctr"/>
          <a:lstStyle/>
          <a:p>
            <a:pPr indent="0" marL="0">
              <a:lnSpc>
                <a:spcPct val="112000"/>
              </a:lnSpc>
              <a:buNone/>
            </a:pPr>
            <a:r>
              <a:rPr lang="en-US" sz="1300" dirty="0">
                <a:solidFill>
                  <a:srgbClr val="5B6B7B"/>
                </a:solidFill>
                <a:latin typeface="Calibri" pitchFamily="34" charset="0"/>
                <a:ea typeface="Calibri" pitchFamily="34" charset="-122"/>
                <a:cs typeface="Calibri" pitchFamily="34" charset="-120"/>
              </a:rPr>
              <a:t>Drives dout: header first, then each payload byte. If the FIFO is full it stashes the byte in full_state_byte instead of losing it.</a:t>
            </a:r>
            <a:endParaRPr lang="en-US" sz="1300" dirty="0"/>
          </a:p>
        </p:txBody>
      </p:sp>
      <p:sp>
        <p:nvSpPr>
          <p:cNvPr id="12" name="Shape 10"/>
          <p:cNvSpPr/>
          <p:nvPr/>
        </p:nvSpPr>
        <p:spPr>
          <a:xfrm>
            <a:off x="6172200" y="2103120"/>
            <a:ext cx="5440680" cy="1874520"/>
          </a:xfrm>
          <a:prstGeom prst="roundRect">
            <a:avLst>
              <a:gd name="adj" fmla="val 4390"/>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13" name="Shape 11"/>
          <p:cNvSpPr/>
          <p:nvPr/>
        </p:nvSpPr>
        <p:spPr>
          <a:xfrm>
            <a:off x="6446520" y="2377440"/>
            <a:ext cx="457200" cy="457200"/>
          </a:xfrm>
          <a:prstGeom prst="ellipse">
            <a:avLst/>
          </a:prstGeom>
          <a:solidFill>
            <a:srgbClr val="1C7293"/>
          </a:solidFill>
          <a:ln/>
        </p:spPr>
      </p:sp>
      <p:sp>
        <p:nvSpPr>
          <p:cNvPr id="14" name="Text 12"/>
          <p:cNvSpPr/>
          <p:nvPr/>
        </p:nvSpPr>
        <p:spPr>
          <a:xfrm>
            <a:off x="6446520" y="23774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p:nvPr/>
        </p:nvSpPr>
        <p:spPr>
          <a:xfrm>
            <a:off x="7086600" y="2359152"/>
            <a:ext cx="429768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Parity generation</a:t>
            </a:r>
            <a:endParaRPr lang="en-US" sz="1600" dirty="0"/>
          </a:p>
        </p:txBody>
      </p:sp>
      <p:sp>
        <p:nvSpPr>
          <p:cNvPr id="16" name="Text 14"/>
          <p:cNvSpPr/>
          <p:nvPr/>
        </p:nvSpPr>
        <p:spPr>
          <a:xfrm>
            <a:off x="6492240" y="2926080"/>
            <a:ext cx="4846320" cy="914400"/>
          </a:xfrm>
          <a:prstGeom prst="rect">
            <a:avLst/>
          </a:prstGeom>
          <a:noFill/>
          <a:ln/>
        </p:spPr>
        <p:txBody>
          <a:bodyPr wrap="square" lIns="0" tIns="0" rIns="0" bIns="0" rtlCol="0" anchor="ctr"/>
          <a:lstStyle/>
          <a:p>
            <a:pPr indent="0" marL="0">
              <a:lnSpc>
                <a:spcPct val="112000"/>
              </a:lnSpc>
              <a:buNone/>
            </a:pPr>
            <a:r>
              <a:rPr lang="en-US" sz="1300" dirty="0">
                <a:solidFill>
                  <a:srgbClr val="5B6B7B"/>
                </a:solidFill>
                <a:latin typeface="Calibri" pitchFamily="34" charset="0"/>
                <a:ea typeface="Calibri" pitchFamily="34" charset="-122"/>
                <a:cs typeface="Calibri" pitchFamily="34" charset="-120"/>
              </a:rPr>
              <a:t>XOR-accumulates every header + payload byte into internal_parity as the packet streams through.</a:t>
            </a:r>
            <a:endParaRPr lang="en-US" sz="1300" dirty="0"/>
          </a:p>
        </p:txBody>
      </p:sp>
      <p:sp>
        <p:nvSpPr>
          <p:cNvPr id="17" name="Shape 15"/>
          <p:cNvSpPr/>
          <p:nvPr/>
        </p:nvSpPr>
        <p:spPr>
          <a:xfrm>
            <a:off x="548640" y="4160520"/>
            <a:ext cx="5440680" cy="1874520"/>
          </a:xfrm>
          <a:prstGeom prst="roundRect">
            <a:avLst>
              <a:gd name="adj" fmla="val 4390"/>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18" name="Shape 16"/>
          <p:cNvSpPr/>
          <p:nvPr/>
        </p:nvSpPr>
        <p:spPr>
          <a:xfrm>
            <a:off x="822960" y="4434840"/>
            <a:ext cx="457200" cy="457200"/>
          </a:xfrm>
          <a:prstGeom prst="ellipse">
            <a:avLst/>
          </a:prstGeom>
          <a:solidFill>
            <a:srgbClr val="F2A65A"/>
          </a:solidFill>
          <a:ln/>
        </p:spPr>
      </p:sp>
      <p:sp>
        <p:nvSpPr>
          <p:cNvPr id="19" name="Text 17"/>
          <p:cNvSpPr/>
          <p:nvPr/>
        </p:nvSpPr>
        <p:spPr>
          <a:xfrm>
            <a:off x="82296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p:nvPr/>
        </p:nvSpPr>
        <p:spPr>
          <a:xfrm>
            <a:off x="1463040" y="4416552"/>
            <a:ext cx="429768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Parity capture</a:t>
            </a:r>
            <a:endParaRPr lang="en-US" sz="1600" dirty="0"/>
          </a:p>
        </p:txBody>
      </p:sp>
      <p:sp>
        <p:nvSpPr>
          <p:cNvPr id="21" name="Text 19"/>
          <p:cNvSpPr/>
          <p:nvPr/>
        </p:nvSpPr>
        <p:spPr>
          <a:xfrm>
            <a:off x="868680" y="4983480"/>
            <a:ext cx="4846320" cy="914400"/>
          </a:xfrm>
          <a:prstGeom prst="rect">
            <a:avLst/>
          </a:prstGeom>
          <a:noFill/>
          <a:ln/>
        </p:spPr>
        <p:txBody>
          <a:bodyPr wrap="square" lIns="0" tIns="0" rIns="0" bIns="0" rtlCol="0" anchor="ctr"/>
          <a:lstStyle/>
          <a:p>
            <a:pPr indent="0" marL="0">
              <a:lnSpc>
                <a:spcPct val="112000"/>
              </a:lnSpc>
              <a:buNone/>
            </a:pPr>
            <a:r>
              <a:rPr lang="en-US" sz="1300" dirty="0">
                <a:solidFill>
                  <a:srgbClr val="5B6B7B"/>
                </a:solidFill>
                <a:latin typeface="Calibri" pitchFamily="34" charset="0"/>
                <a:ea typeface="Calibri" pitchFamily="34" charset="-122"/>
                <a:cs typeface="Calibri" pitchFamily="34" charset="-120"/>
              </a:rPr>
              <a:t>When the packet ends, the incoming parity byte is captured into pkt_parity.</a:t>
            </a:r>
            <a:endParaRPr lang="en-US" sz="1300" dirty="0"/>
          </a:p>
        </p:txBody>
      </p:sp>
      <p:sp>
        <p:nvSpPr>
          <p:cNvPr id="22" name="Shape 20"/>
          <p:cNvSpPr/>
          <p:nvPr/>
        </p:nvSpPr>
        <p:spPr>
          <a:xfrm>
            <a:off x="6172200" y="4160520"/>
            <a:ext cx="5440680" cy="1874520"/>
          </a:xfrm>
          <a:prstGeom prst="roundRect">
            <a:avLst>
              <a:gd name="adj" fmla="val 4390"/>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23" name="Shape 21"/>
          <p:cNvSpPr/>
          <p:nvPr/>
        </p:nvSpPr>
        <p:spPr>
          <a:xfrm>
            <a:off x="6446520" y="4434840"/>
            <a:ext cx="457200" cy="457200"/>
          </a:xfrm>
          <a:prstGeom prst="ellipse">
            <a:avLst/>
          </a:prstGeom>
          <a:solidFill>
            <a:srgbClr val="B85042"/>
          </a:solidFill>
          <a:ln/>
        </p:spPr>
      </p:sp>
      <p:sp>
        <p:nvSpPr>
          <p:cNvPr id="24" name="Text 22"/>
          <p:cNvSpPr/>
          <p:nvPr/>
        </p:nvSpPr>
        <p:spPr>
          <a:xfrm>
            <a:off x="644652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7086600" y="4416552"/>
            <a:ext cx="429768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Error detection</a:t>
            </a:r>
            <a:endParaRPr lang="en-US" sz="1600" dirty="0"/>
          </a:p>
        </p:txBody>
      </p:sp>
      <p:sp>
        <p:nvSpPr>
          <p:cNvPr id="26" name="Text 24"/>
          <p:cNvSpPr/>
          <p:nvPr/>
        </p:nvSpPr>
        <p:spPr>
          <a:xfrm>
            <a:off x="6492240" y="4983480"/>
            <a:ext cx="4846320" cy="914400"/>
          </a:xfrm>
          <a:prstGeom prst="rect">
            <a:avLst/>
          </a:prstGeom>
          <a:noFill/>
          <a:ln/>
        </p:spPr>
        <p:txBody>
          <a:bodyPr wrap="square" lIns="0" tIns="0" rIns="0" bIns="0" rtlCol="0" anchor="ctr"/>
          <a:lstStyle/>
          <a:p>
            <a:pPr indent="0" marL="0">
              <a:lnSpc>
                <a:spcPct val="112000"/>
              </a:lnSpc>
              <a:buNone/>
            </a:pPr>
            <a:r>
              <a:rPr lang="en-US" sz="1300" dirty="0">
                <a:solidFill>
                  <a:srgbClr val="5B6B7B"/>
                </a:solidFill>
                <a:latin typeface="Calibri" pitchFamily="34" charset="0"/>
                <a:ea typeface="Calibri" pitchFamily="34" charset="-122"/>
                <a:cs typeface="Calibri" pitchFamily="34" charset="-120"/>
              </a:rPr>
              <a:t>If pkt_parity ≠ internal_parity once parity_done is set → err = 1. Otherwise the packet is clean.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DATAPATH</a:t>
            </a:r>
            <a:endParaRPr lang="en-US" sz="1200" dirty="0"/>
          </a:p>
        </p:txBody>
      </p:sp>
      <p:sp>
        <p:nvSpPr>
          <p:cNvPr id="3" name="Text 1"/>
          <p:cNvSpPr/>
          <p:nvPr/>
        </p:nvSpPr>
        <p:spPr>
          <a:xfrm>
            <a:off x="548640" y="640080"/>
            <a:ext cx="1042416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router_fifo — the 16×9 buffer</a:t>
            </a:r>
            <a:endParaRPr lang="en-US" sz="3000" dirty="0"/>
          </a:p>
        </p:txBody>
      </p:sp>
      <p:sp>
        <p:nvSpPr>
          <p:cNvPr id="4" name="Shape 2"/>
          <p:cNvSpPr/>
          <p:nvPr/>
        </p:nvSpPr>
        <p:spPr>
          <a:xfrm>
            <a:off x="11292840" y="457200"/>
            <a:ext cx="502920" cy="502920"/>
          </a:xfrm>
          <a:prstGeom prst="ellipse">
            <a:avLst/>
          </a:prstGeom>
          <a:solidFill>
            <a:srgbClr val="21295C"/>
          </a:solidFill>
          <a:ln/>
        </p:spPr>
      </p:sp>
      <p:sp>
        <p:nvSpPr>
          <p:cNvPr id="5" name="Text 3"/>
          <p:cNvSpPr/>
          <p:nvPr/>
        </p:nvSpPr>
        <p:spPr>
          <a:xfrm>
            <a:off x="112928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6" name="Shape 4"/>
          <p:cNvSpPr/>
          <p:nvPr/>
        </p:nvSpPr>
        <p:spPr>
          <a:xfrm>
            <a:off x="548640" y="1554480"/>
            <a:ext cx="5486400" cy="4663440"/>
          </a:xfrm>
          <a:prstGeom prst="roundRect">
            <a:avLst>
              <a:gd name="adj" fmla="val 1765"/>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7" name="Text 5"/>
          <p:cNvSpPr/>
          <p:nvPr/>
        </p:nvSpPr>
        <p:spPr>
          <a:xfrm>
            <a:off x="868680" y="1783080"/>
            <a:ext cx="4846320" cy="36576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Why 9 bits wide, not 8?</a:t>
            </a:r>
            <a:endParaRPr lang="en-US" sz="1600" dirty="0"/>
          </a:p>
        </p:txBody>
      </p:sp>
      <p:sp>
        <p:nvSpPr>
          <p:cNvPr id="8" name="Text 6"/>
          <p:cNvSpPr/>
          <p:nvPr/>
        </p:nvSpPr>
        <p:spPr>
          <a:xfrm>
            <a:off x="868680" y="2194560"/>
            <a:ext cx="4846320" cy="1554480"/>
          </a:xfrm>
          <a:prstGeom prst="rect">
            <a:avLst/>
          </a:prstGeom>
          <a:noFill/>
          <a:ln/>
        </p:spPr>
        <p:txBody>
          <a:bodyPr wrap="square" lIns="0" tIns="0" rIns="0" bIns="0" rtlCol="0" anchor="ctr"/>
          <a:lstStyle/>
          <a:p>
            <a:pPr indent="0" marL="0">
              <a:lnSpc>
                <a:spcPct val="115000"/>
              </a:lnSpc>
              <a:buNone/>
            </a:pPr>
            <a:r>
              <a:rPr lang="en-US" sz="1450" dirty="0">
                <a:solidFill>
                  <a:srgbClr val="1B2430"/>
                </a:solidFill>
                <a:latin typeface="Calibri" pitchFamily="34" charset="0"/>
                <a:ea typeface="Calibri" pitchFamily="34" charset="-122"/>
                <a:cs typeface="Calibri" pitchFamily="34" charset="-120"/>
              </a:rPr>
              <a:t>Each location stores 9 bits = </a:t>
            </a:r>
            <a:pPr indent="0" marL="0">
              <a:lnSpc>
                <a:spcPct val="115000"/>
              </a:lnSpc>
              <a:buNone/>
            </a:pPr>
            <a:r>
              <a:rPr lang="en-US" sz="1450" b="1" dirty="0">
                <a:solidFill>
                  <a:srgbClr val="065A82"/>
                </a:solidFill>
                <a:latin typeface="Consolas" pitchFamily="34" charset="0"/>
                <a:ea typeface="Consolas" pitchFamily="34" charset="-122"/>
                <a:cs typeface="Consolas" pitchFamily="34" charset="-120"/>
              </a:rPr>
              <a:t>{ lfd_state , data[7:0] }</a:t>
            </a:r>
            <a:pPr indent="0" marL="0">
              <a:lnSpc>
                <a:spcPct val="115000"/>
              </a:lnSpc>
              <a:buNone/>
            </a:pPr>
            <a:r>
              <a:rPr lang="en-US" sz="1450" dirty="0">
                <a:solidFill>
                  <a:srgbClr val="1B2430"/>
                </a:solidFill>
                <a:latin typeface="Calibri" pitchFamily="34" charset="0"/>
                <a:ea typeface="Calibri" pitchFamily="34" charset="-122"/>
                <a:cs typeface="Calibri" pitchFamily="34" charset="-120"/>
              </a:rPr>
              <a:t>. The extra top bit marks the </a:t>
            </a:r>
            <a:pPr indent="0" marL="0">
              <a:lnSpc>
                <a:spcPct val="115000"/>
              </a:lnSpc>
              <a:buNone/>
            </a:pPr>
            <a:r>
              <a:rPr lang="en-US" sz="1450" b="1" dirty="0">
                <a:solidFill>
                  <a:srgbClr val="1B2430"/>
                </a:solidFill>
                <a:latin typeface="Calibri" pitchFamily="34" charset="0"/>
                <a:ea typeface="Calibri" pitchFamily="34" charset="-122"/>
                <a:cs typeface="Calibri" pitchFamily="34" charset="-120"/>
              </a:rPr>
              <a:t>first byte (header)</a:t>
            </a:r>
            <a:pPr indent="0" marL="0">
              <a:lnSpc>
                <a:spcPct val="115000"/>
              </a:lnSpc>
              <a:buNone/>
            </a:pPr>
            <a:r>
              <a:rPr lang="en-US" sz="1450" dirty="0">
                <a:solidFill>
                  <a:srgbClr val="1B2430"/>
                </a:solidFill>
                <a:latin typeface="Calibri" pitchFamily="34" charset="0"/>
                <a:ea typeface="Calibri" pitchFamily="34" charset="-122"/>
                <a:cs typeface="Calibri" pitchFamily="34" charset="-120"/>
              </a:rPr>
              <a:t> of a packet, so the read side knows where each packet begins and can recover its length.</a:t>
            </a:r>
            <a:endParaRPr lang="en-US" sz="1450" dirty="0"/>
          </a:p>
        </p:txBody>
      </p:sp>
      <p:sp>
        <p:nvSpPr>
          <p:cNvPr id="9" name="Text 7"/>
          <p:cNvSpPr/>
          <p:nvPr/>
        </p:nvSpPr>
        <p:spPr>
          <a:xfrm>
            <a:off x="868680" y="3794760"/>
            <a:ext cx="4846320" cy="36576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Pointers &amp; flags</a:t>
            </a:r>
            <a:endParaRPr lang="en-US" sz="1600" dirty="0"/>
          </a:p>
        </p:txBody>
      </p:sp>
      <p:sp>
        <p:nvSpPr>
          <p:cNvPr id="10" name="Text 8"/>
          <p:cNvSpPr/>
          <p:nvPr/>
        </p:nvSpPr>
        <p:spPr>
          <a:xfrm>
            <a:off x="868680" y="4160520"/>
            <a:ext cx="4846320" cy="1920240"/>
          </a:xfrm>
          <a:prstGeom prst="rect">
            <a:avLst/>
          </a:prstGeom>
          <a:noFill/>
          <a:ln/>
        </p:spPr>
        <p:txBody>
          <a:bodyPr wrap="square" lIns="0" tIns="0" rIns="0" bIns="0" rtlCol="0" anchor="ctr"/>
          <a:lstStyle/>
          <a:p>
            <a:pPr indent="0" marL="0">
              <a:lnSpc>
                <a:spcPct val="125000"/>
              </a:lnSpc>
              <a:buNone/>
            </a:pPr>
            <a:r>
              <a:rPr lang="en-US" sz="1350" b="1" dirty="0">
                <a:solidFill>
                  <a:srgbClr val="5B6B7B"/>
                </a:solidFill>
                <a:latin typeface="Calibri" pitchFamily="34" charset="0"/>
                <a:ea typeface="Calibri" pitchFamily="34" charset="-122"/>
                <a:cs typeface="Calibri" pitchFamily="34" charset="-120"/>
              </a:rPr>
              <a:t>•  5-bit read/write pointers (4 addr bits + 1 wrap bit)
</a:t>
            </a:r>
            <a:pPr indent="0" marL="0">
              <a:lnSpc>
                <a:spcPct val="125000"/>
              </a:lnSpc>
              <a:buNone/>
            </a:pPr>
            <a:r>
              <a:rPr lang="en-US" sz="1350" dirty="0">
                <a:solidFill>
                  <a:srgbClr val="5B6B7B"/>
                </a:solidFill>
                <a:latin typeface="Calibri" pitchFamily="34" charset="0"/>
                <a:ea typeface="Calibri" pitchFamily="34" charset="-122"/>
                <a:cs typeface="Calibri" pitchFamily="34" charset="-120"/>
              </a:rPr>
              <a:t>•  empty when wr_ptr == rd_ptr
</a:t>
            </a:r>
            <a:pPr indent="0" marL="0">
              <a:lnSpc>
                <a:spcPct val="125000"/>
              </a:lnSpc>
              <a:buNone/>
            </a:pPr>
            <a:r>
              <a:rPr lang="en-US" sz="1350" dirty="0">
                <a:solidFill>
                  <a:srgbClr val="5B6B7B"/>
                </a:solidFill>
                <a:latin typeface="Calibri" pitchFamily="34" charset="0"/>
                <a:ea typeface="Calibri" pitchFamily="34" charset="-122"/>
                <a:cs typeface="Calibri" pitchFamily="34" charset="-120"/>
              </a:rPr>
              <a:t>•  full when the wrap bits differ but addresses match
</a:t>
            </a:r>
            <a:pPr indent="0" marL="0">
              <a:lnSpc>
                <a:spcPct val="125000"/>
              </a:lnSpc>
              <a:buNone/>
            </a:pPr>
            <a:r>
              <a:rPr lang="en-US" sz="1350" dirty="0">
                <a:solidFill>
                  <a:srgbClr val="5B6B7B"/>
                </a:solidFill>
                <a:latin typeface="Calibri" pitchFamily="34" charset="0"/>
                <a:ea typeface="Calibri" pitchFamily="34" charset="-122"/>
                <a:cs typeface="Calibri" pitchFamily="34" charset="-120"/>
              </a:rPr>
              <a:t>•  Reads/writes guarded to prevent under/overflow
</a:t>
            </a:r>
            <a:pPr indent="0" marL="0">
              <a:lnSpc>
                <a:spcPct val="125000"/>
              </a:lnSpc>
              <a:buNone/>
            </a:pPr>
            <a:r>
              <a:rPr lang="en-US" sz="1350" dirty="0">
                <a:solidFill>
                  <a:srgbClr val="5B6B7B"/>
                </a:solidFill>
                <a:latin typeface="Calibri" pitchFamily="34" charset="0"/>
                <a:ea typeface="Calibri" pitchFamily="34" charset="-122"/>
                <a:cs typeface="Calibri" pitchFamily="34" charset="-120"/>
              </a:rPr>
              <a:t>•  Down-counter drives data_out to high-Z after the packet is fully read</a:t>
            </a:r>
            <a:endParaRPr lang="en-US" sz="1350" dirty="0"/>
          </a:p>
        </p:txBody>
      </p:sp>
      <p:sp>
        <p:nvSpPr>
          <p:cNvPr id="11" name="Shape 9"/>
          <p:cNvSpPr/>
          <p:nvPr/>
        </p:nvSpPr>
        <p:spPr>
          <a:xfrm>
            <a:off x="6309360" y="1554480"/>
            <a:ext cx="5303520" cy="4663440"/>
          </a:xfrm>
          <a:prstGeom prst="roundRect">
            <a:avLst>
              <a:gd name="adj" fmla="val 1765"/>
            </a:avLst>
          </a:prstGeom>
          <a:solidFill>
            <a:srgbClr val="21295C"/>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12" name="Text 10"/>
          <p:cNvSpPr/>
          <p:nvPr/>
        </p:nvSpPr>
        <p:spPr>
          <a:xfrm>
            <a:off x="6309360" y="1783080"/>
            <a:ext cx="5303520" cy="365760"/>
          </a:xfrm>
          <a:prstGeom prst="rect">
            <a:avLst/>
          </a:prstGeom>
          <a:noFill/>
          <a:ln/>
        </p:spPr>
        <p:txBody>
          <a:bodyPr wrap="square" lIns="0" tIns="0" rIns="0" bIns="0" rtlCol="0" anchor="ctr"/>
          <a:lstStyle/>
          <a:p>
            <a:pPr algn="ctr" indent="0" marL="0">
              <a:buNone/>
            </a:pPr>
            <a:r>
              <a:rPr lang="en-US" sz="1400" b="1" dirty="0">
                <a:solidFill>
                  <a:srgbClr val="02C39A"/>
                </a:solidFill>
                <a:latin typeface="Calibri" pitchFamily="34" charset="0"/>
                <a:ea typeface="Calibri" pitchFamily="34" charset="-122"/>
                <a:cs typeface="Calibri" pitchFamily="34" charset="-120"/>
              </a:rPr>
              <a:t>16 locations × 9 bits</a:t>
            </a:r>
            <a:endParaRPr lang="en-US" sz="1400" dirty="0"/>
          </a:p>
        </p:txBody>
      </p:sp>
      <p:sp>
        <p:nvSpPr>
          <p:cNvPr id="13" name="Shape 11"/>
          <p:cNvSpPr/>
          <p:nvPr/>
        </p:nvSpPr>
        <p:spPr>
          <a:xfrm>
            <a:off x="6720840" y="2286000"/>
            <a:ext cx="2194560" cy="347472"/>
          </a:xfrm>
          <a:prstGeom prst="rect">
            <a:avLst/>
          </a:prstGeom>
          <a:solidFill>
            <a:srgbClr val="02C39A"/>
          </a:solidFill>
          <a:ln w="9525">
            <a:solidFill>
              <a:srgbClr val="44548A"/>
            </a:solidFill>
            <a:prstDash val="solid"/>
          </a:ln>
        </p:spPr>
      </p:sp>
      <p:sp>
        <p:nvSpPr>
          <p:cNvPr id="14" name="Text 12"/>
          <p:cNvSpPr/>
          <p:nvPr/>
        </p:nvSpPr>
        <p:spPr>
          <a:xfrm>
            <a:off x="6812280" y="2286000"/>
            <a:ext cx="2103120" cy="347472"/>
          </a:xfrm>
          <a:prstGeom prst="rect">
            <a:avLst/>
          </a:prstGeom>
          <a:noFill/>
          <a:ln/>
        </p:spPr>
        <p:txBody>
          <a:bodyPr wrap="square" lIns="0" tIns="0" rIns="0" bIns="0" rtlCol="0" anchor="ctr"/>
          <a:lstStyle/>
          <a:p>
            <a:pPr indent="0" marL="0">
              <a:buNone/>
            </a:pPr>
            <a:r>
              <a:rPr lang="en-US" sz="1050" b="1" dirty="0">
                <a:solidFill>
                  <a:srgbClr val="21295C"/>
                </a:solidFill>
                <a:latin typeface="Consolas" pitchFamily="34" charset="0"/>
                <a:ea typeface="Consolas" pitchFamily="34" charset="-122"/>
                <a:cs typeface="Consolas" pitchFamily="34" charset="-120"/>
              </a:rPr>
              <a:t>lfd=1  header</a:t>
            </a:r>
            <a:endParaRPr lang="en-US" sz="1050" dirty="0"/>
          </a:p>
        </p:txBody>
      </p:sp>
      <p:sp>
        <p:nvSpPr>
          <p:cNvPr id="15" name="Shape 13"/>
          <p:cNvSpPr/>
          <p:nvPr/>
        </p:nvSpPr>
        <p:spPr>
          <a:xfrm>
            <a:off x="9098280" y="2286000"/>
            <a:ext cx="2194560" cy="347472"/>
          </a:xfrm>
          <a:prstGeom prst="rect">
            <a:avLst/>
          </a:prstGeom>
          <a:solidFill>
            <a:srgbClr val="2E3B6E"/>
          </a:solidFill>
          <a:ln w="9525">
            <a:solidFill>
              <a:srgbClr val="44548A"/>
            </a:solidFill>
            <a:prstDash val="solid"/>
          </a:ln>
        </p:spPr>
      </p:sp>
      <p:sp>
        <p:nvSpPr>
          <p:cNvPr id="16" name="Text 14"/>
          <p:cNvSpPr/>
          <p:nvPr/>
        </p:nvSpPr>
        <p:spPr>
          <a:xfrm>
            <a:off x="9189720" y="2286000"/>
            <a:ext cx="2103120" cy="347472"/>
          </a:xfrm>
          <a:prstGeom prst="rect">
            <a:avLst/>
          </a:prstGeom>
          <a:noFill/>
          <a:ln/>
        </p:spPr>
        <p:txBody>
          <a:bodyPr wrap="square" lIns="0" tIns="0" rIns="0" bIns="0" rtlCol="0" anchor="ctr"/>
          <a:lstStyle/>
          <a:p>
            <a:pPr indent="0" marL="0">
              <a:buNone/>
            </a:pPr>
            <a:r>
              <a:rPr lang="en-US" sz="1050" dirty="0">
                <a:solidFill>
                  <a:srgbClr val="AEB9DA"/>
                </a:solidFill>
                <a:latin typeface="Consolas" pitchFamily="34" charset="0"/>
                <a:ea typeface="Consolas" pitchFamily="34" charset="-122"/>
                <a:cs typeface="Consolas" pitchFamily="34" charset="-120"/>
              </a:rPr>
              <a:t>0  payload</a:t>
            </a:r>
            <a:endParaRPr lang="en-US" sz="1050" dirty="0"/>
          </a:p>
        </p:txBody>
      </p:sp>
      <p:sp>
        <p:nvSpPr>
          <p:cNvPr id="17" name="Shape 15"/>
          <p:cNvSpPr/>
          <p:nvPr/>
        </p:nvSpPr>
        <p:spPr>
          <a:xfrm>
            <a:off x="6720840" y="2697480"/>
            <a:ext cx="2194560" cy="347472"/>
          </a:xfrm>
          <a:prstGeom prst="rect">
            <a:avLst/>
          </a:prstGeom>
          <a:solidFill>
            <a:srgbClr val="2E3B6E"/>
          </a:solidFill>
          <a:ln w="9525">
            <a:solidFill>
              <a:srgbClr val="44548A"/>
            </a:solidFill>
            <a:prstDash val="solid"/>
          </a:ln>
        </p:spPr>
      </p:sp>
      <p:sp>
        <p:nvSpPr>
          <p:cNvPr id="18" name="Text 16"/>
          <p:cNvSpPr/>
          <p:nvPr/>
        </p:nvSpPr>
        <p:spPr>
          <a:xfrm>
            <a:off x="6812280" y="2697480"/>
            <a:ext cx="2103120" cy="347472"/>
          </a:xfrm>
          <a:prstGeom prst="rect">
            <a:avLst/>
          </a:prstGeom>
          <a:noFill/>
          <a:ln/>
        </p:spPr>
        <p:txBody>
          <a:bodyPr wrap="square" lIns="0" tIns="0" rIns="0" bIns="0" rtlCol="0" anchor="ctr"/>
          <a:lstStyle/>
          <a:p>
            <a:pPr indent="0" marL="0">
              <a:buNone/>
            </a:pPr>
            <a:r>
              <a:rPr lang="en-US" sz="1050" dirty="0">
                <a:solidFill>
                  <a:srgbClr val="AEB9DA"/>
                </a:solidFill>
                <a:latin typeface="Consolas" pitchFamily="34" charset="0"/>
                <a:ea typeface="Consolas" pitchFamily="34" charset="-122"/>
                <a:cs typeface="Consolas" pitchFamily="34" charset="-120"/>
              </a:rPr>
              <a:t>0  payload</a:t>
            </a:r>
            <a:endParaRPr lang="en-US" sz="1050" dirty="0"/>
          </a:p>
        </p:txBody>
      </p:sp>
      <p:sp>
        <p:nvSpPr>
          <p:cNvPr id="19" name="Shape 17"/>
          <p:cNvSpPr/>
          <p:nvPr/>
        </p:nvSpPr>
        <p:spPr>
          <a:xfrm>
            <a:off x="9098280" y="2697480"/>
            <a:ext cx="2194560" cy="347472"/>
          </a:xfrm>
          <a:prstGeom prst="rect">
            <a:avLst/>
          </a:prstGeom>
          <a:solidFill>
            <a:srgbClr val="2E3B6E"/>
          </a:solidFill>
          <a:ln w="9525">
            <a:solidFill>
              <a:srgbClr val="44548A"/>
            </a:solidFill>
            <a:prstDash val="solid"/>
          </a:ln>
        </p:spPr>
      </p:sp>
      <p:sp>
        <p:nvSpPr>
          <p:cNvPr id="20" name="Text 18"/>
          <p:cNvSpPr/>
          <p:nvPr/>
        </p:nvSpPr>
        <p:spPr>
          <a:xfrm>
            <a:off x="9189720" y="2697480"/>
            <a:ext cx="2103120" cy="347472"/>
          </a:xfrm>
          <a:prstGeom prst="rect">
            <a:avLst/>
          </a:prstGeom>
          <a:noFill/>
          <a:ln/>
        </p:spPr>
        <p:txBody>
          <a:bodyPr wrap="square" lIns="0" tIns="0" rIns="0" bIns="0" rtlCol="0" anchor="ctr"/>
          <a:lstStyle/>
          <a:p>
            <a:pPr indent="0" marL="0">
              <a:buNone/>
            </a:pPr>
            <a:r>
              <a:rPr lang="en-US" sz="1050" dirty="0">
                <a:solidFill>
                  <a:srgbClr val="AEB9DA"/>
                </a:solidFill>
                <a:latin typeface="Consolas" pitchFamily="34" charset="0"/>
                <a:ea typeface="Consolas" pitchFamily="34" charset="-122"/>
                <a:cs typeface="Consolas" pitchFamily="34" charset="-120"/>
              </a:rPr>
              <a:t>0  payload</a:t>
            </a:r>
            <a:endParaRPr lang="en-US" sz="1050" dirty="0"/>
          </a:p>
        </p:txBody>
      </p:sp>
      <p:sp>
        <p:nvSpPr>
          <p:cNvPr id="21" name="Shape 19"/>
          <p:cNvSpPr/>
          <p:nvPr/>
        </p:nvSpPr>
        <p:spPr>
          <a:xfrm>
            <a:off x="6720840" y="3108960"/>
            <a:ext cx="2194560" cy="347472"/>
          </a:xfrm>
          <a:prstGeom prst="rect">
            <a:avLst/>
          </a:prstGeom>
          <a:solidFill>
            <a:srgbClr val="2E3B6E"/>
          </a:solidFill>
          <a:ln w="9525">
            <a:solidFill>
              <a:srgbClr val="44548A"/>
            </a:solidFill>
            <a:prstDash val="solid"/>
          </a:ln>
        </p:spPr>
      </p:sp>
      <p:sp>
        <p:nvSpPr>
          <p:cNvPr id="22" name="Text 20"/>
          <p:cNvSpPr/>
          <p:nvPr/>
        </p:nvSpPr>
        <p:spPr>
          <a:xfrm>
            <a:off x="6812280" y="3108960"/>
            <a:ext cx="2103120" cy="347472"/>
          </a:xfrm>
          <a:prstGeom prst="rect">
            <a:avLst/>
          </a:prstGeom>
          <a:noFill/>
          <a:ln/>
        </p:spPr>
        <p:txBody>
          <a:bodyPr wrap="square" lIns="0" tIns="0" rIns="0" bIns="0" rtlCol="0" anchor="ctr"/>
          <a:lstStyle/>
          <a:p>
            <a:pPr indent="0" marL="0">
              <a:buNone/>
            </a:pPr>
            <a:r>
              <a:rPr lang="en-US" sz="1050" dirty="0">
                <a:solidFill>
                  <a:srgbClr val="AEB9DA"/>
                </a:solidFill>
                <a:latin typeface="Consolas" pitchFamily="34" charset="0"/>
                <a:ea typeface="Consolas" pitchFamily="34" charset="-122"/>
                <a:cs typeface="Consolas" pitchFamily="34" charset="-120"/>
              </a:rPr>
              <a:t>0  payload</a:t>
            </a:r>
            <a:endParaRPr lang="en-US" sz="1050" dirty="0"/>
          </a:p>
        </p:txBody>
      </p:sp>
      <p:sp>
        <p:nvSpPr>
          <p:cNvPr id="23" name="Shape 21"/>
          <p:cNvSpPr/>
          <p:nvPr/>
        </p:nvSpPr>
        <p:spPr>
          <a:xfrm>
            <a:off x="9098280" y="3108960"/>
            <a:ext cx="2194560" cy="347472"/>
          </a:xfrm>
          <a:prstGeom prst="rect">
            <a:avLst/>
          </a:prstGeom>
          <a:solidFill>
            <a:srgbClr val="2E3B6E"/>
          </a:solidFill>
          <a:ln w="9525">
            <a:solidFill>
              <a:srgbClr val="44548A"/>
            </a:solidFill>
            <a:prstDash val="solid"/>
          </a:ln>
        </p:spPr>
      </p:sp>
      <p:sp>
        <p:nvSpPr>
          <p:cNvPr id="24" name="Text 22"/>
          <p:cNvSpPr/>
          <p:nvPr/>
        </p:nvSpPr>
        <p:spPr>
          <a:xfrm>
            <a:off x="9189720" y="3108960"/>
            <a:ext cx="2103120" cy="347472"/>
          </a:xfrm>
          <a:prstGeom prst="rect">
            <a:avLst/>
          </a:prstGeom>
          <a:noFill/>
          <a:ln/>
        </p:spPr>
        <p:txBody>
          <a:bodyPr wrap="square" lIns="0" tIns="0" rIns="0" bIns="0" rtlCol="0" anchor="ctr"/>
          <a:lstStyle/>
          <a:p>
            <a:pPr indent="0" marL="0">
              <a:buNone/>
            </a:pPr>
            <a:r>
              <a:rPr lang="en-US" sz="1050" dirty="0">
                <a:solidFill>
                  <a:srgbClr val="AEB9DA"/>
                </a:solidFill>
                <a:latin typeface="Consolas" pitchFamily="34" charset="0"/>
                <a:ea typeface="Consolas" pitchFamily="34" charset="-122"/>
                <a:cs typeface="Consolas" pitchFamily="34" charset="-120"/>
              </a:rPr>
              <a:t>0  payload</a:t>
            </a:r>
            <a:endParaRPr lang="en-US" sz="1050" dirty="0"/>
          </a:p>
        </p:txBody>
      </p:sp>
      <p:sp>
        <p:nvSpPr>
          <p:cNvPr id="25" name="Shape 23"/>
          <p:cNvSpPr/>
          <p:nvPr/>
        </p:nvSpPr>
        <p:spPr>
          <a:xfrm>
            <a:off x="6720840" y="3520440"/>
            <a:ext cx="2194560" cy="347472"/>
          </a:xfrm>
          <a:prstGeom prst="rect">
            <a:avLst/>
          </a:prstGeom>
          <a:solidFill>
            <a:srgbClr val="2E3B6E"/>
          </a:solidFill>
          <a:ln w="9525">
            <a:solidFill>
              <a:srgbClr val="44548A"/>
            </a:solidFill>
            <a:prstDash val="solid"/>
          </a:ln>
        </p:spPr>
      </p:sp>
      <p:sp>
        <p:nvSpPr>
          <p:cNvPr id="26" name="Text 24"/>
          <p:cNvSpPr/>
          <p:nvPr/>
        </p:nvSpPr>
        <p:spPr>
          <a:xfrm>
            <a:off x="6812280" y="3520440"/>
            <a:ext cx="2103120" cy="347472"/>
          </a:xfrm>
          <a:prstGeom prst="rect">
            <a:avLst/>
          </a:prstGeom>
          <a:noFill/>
          <a:ln/>
        </p:spPr>
        <p:txBody>
          <a:bodyPr wrap="square" lIns="0" tIns="0" rIns="0" bIns="0" rtlCol="0" anchor="ctr"/>
          <a:lstStyle/>
          <a:p>
            <a:pPr indent="0" marL="0">
              <a:buNone/>
            </a:pPr>
            <a:r>
              <a:rPr lang="en-US" sz="1050" dirty="0">
                <a:solidFill>
                  <a:srgbClr val="AEB9DA"/>
                </a:solidFill>
                <a:latin typeface="Consolas" pitchFamily="34" charset="0"/>
                <a:ea typeface="Consolas" pitchFamily="34" charset="-122"/>
                <a:cs typeface="Consolas" pitchFamily="34" charset="-120"/>
              </a:rPr>
              <a:t>0  payload</a:t>
            </a:r>
            <a:endParaRPr lang="en-US" sz="1050" dirty="0"/>
          </a:p>
        </p:txBody>
      </p:sp>
      <p:sp>
        <p:nvSpPr>
          <p:cNvPr id="27" name="Shape 25"/>
          <p:cNvSpPr/>
          <p:nvPr/>
        </p:nvSpPr>
        <p:spPr>
          <a:xfrm>
            <a:off x="9098280" y="3520440"/>
            <a:ext cx="2194560" cy="347472"/>
          </a:xfrm>
          <a:prstGeom prst="rect">
            <a:avLst/>
          </a:prstGeom>
          <a:solidFill>
            <a:srgbClr val="2E3B6E"/>
          </a:solidFill>
          <a:ln w="9525">
            <a:solidFill>
              <a:srgbClr val="44548A"/>
            </a:solidFill>
            <a:prstDash val="solid"/>
          </a:ln>
        </p:spPr>
      </p:sp>
      <p:sp>
        <p:nvSpPr>
          <p:cNvPr id="28" name="Text 26"/>
          <p:cNvSpPr/>
          <p:nvPr/>
        </p:nvSpPr>
        <p:spPr>
          <a:xfrm>
            <a:off x="9189720" y="3520440"/>
            <a:ext cx="2103120" cy="347472"/>
          </a:xfrm>
          <a:prstGeom prst="rect">
            <a:avLst/>
          </a:prstGeom>
          <a:noFill/>
          <a:ln/>
        </p:spPr>
        <p:txBody>
          <a:bodyPr wrap="square" lIns="0" tIns="0" rIns="0" bIns="0" rtlCol="0" anchor="ctr"/>
          <a:lstStyle/>
          <a:p>
            <a:pPr indent="0" marL="0">
              <a:buNone/>
            </a:pPr>
            <a:r>
              <a:rPr lang="en-US" sz="1050" dirty="0">
                <a:solidFill>
                  <a:srgbClr val="AEB9DA"/>
                </a:solidFill>
                <a:latin typeface="Consolas" pitchFamily="34" charset="0"/>
                <a:ea typeface="Consolas" pitchFamily="34" charset="-122"/>
                <a:cs typeface="Consolas" pitchFamily="34" charset="-120"/>
              </a:rPr>
              <a:t>0  payload</a:t>
            </a:r>
            <a:endParaRPr lang="en-US" sz="1050" dirty="0"/>
          </a:p>
        </p:txBody>
      </p:sp>
      <p:sp>
        <p:nvSpPr>
          <p:cNvPr id="29" name="Shape 27"/>
          <p:cNvSpPr/>
          <p:nvPr/>
        </p:nvSpPr>
        <p:spPr>
          <a:xfrm>
            <a:off x="6720840" y="3931920"/>
            <a:ext cx="2194560" cy="347472"/>
          </a:xfrm>
          <a:prstGeom prst="rect">
            <a:avLst/>
          </a:prstGeom>
          <a:solidFill>
            <a:srgbClr val="2E3B6E"/>
          </a:solidFill>
          <a:ln w="9525">
            <a:solidFill>
              <a:srgbClr val="44548A"/>
            </a:solidFill>
            <a:prstDash val="solid"/>
          </a:ln>
        </p:spPr>
      </p:sp>
      <p:sp>
        <p:nvSpPr>
          <p:cNvPr id="30" name="Text 28"/>
          <p:cNvSpPr/>
          <p:nvPr/>
        </p:nvSpPr>
        <p:spPr>
          <a:xfrm>
            <a:off x="6812280" y="3931920"/>
            <a:ext cx="2103120" cy="347472"/>
          </a:xfrm>
          <a:prstGeom prst="rect">
            <a:avLst/>
          </a:prstGeom>
          <a:noFill/>
          <a:ln/>
        </p:spPr>
        <p:txBody>
          <a:bodyPr wrap="square" lIns="0" tIns="0" rIns="0" bIns="0" rtlCol="0" anchor="ctr"/>
          <a:lstStyle/>
          <a:p>
            <a:pPr indent="0" marL="0">
              <a:buNone/>
            </a:pPr>
            <a:r>
              <a:rPr lang="en-US" sz="1050" dirty="0">
                <a:solidFill>
                  <a:srgbClr val="AEB9DA"/>
                </a:solidFill>
                <a:latin typeface="Consolas" pitchFamily="34" charset="0"/>
                <a:ea typeface="Consolas" pitchFamily="34" charset="-122"/>
                <a:cs typeface="Consolas" pitchFamily="34" charset="-120"/>
              </a:rPr>
              <a:t>0  payload</a:t>
            </a:r>
            <a:endParaRPr lang="en-US" sz="1050" dirty="0"/>
          </a:p>
        </p:txBody>
      </p:sp>
      <p:sp>
        <p:nvSpPr>
          <p:cNvPr id="31" name="Shape 29"/>
          <p:cNvSpPr/>
          <p:nvPr/>
        </p:nvSpPr>
        <p:spPr>
          <a:xfrm>
            <a:off x="9098280" y="3931920"/>
            <a:ext cx="2194560" cy="347472"/>
          </a:xfrm>
          <a:prstGeom prst="rect">
            <a:avLst/>
          </a:prstGeom>
          <a:solidFill>
            <a:srgbClr val="2E3B6E"/>
          </a:solidFill>
          <a:ln w="9525">
            <a:solidFill>
              <a:srgbClr val="44548A"/>
            </a:solidFill>
            <a:prstDash val="solid"/>
          </a:ln>
        </p:spPr>
      </p:sp>
      <p:sp>
        <p:nvSpPr>
          <p:cNvPr id="32" name="Text 30"/>
          <p:cNvSpPr/>
          <p:nvPr/>
        </p:nvSpPr>
        <p:spPr>
          <a:xfrm>
            <a:off x="9189720" y="3931920"/>
            <a:ext cx="2103120" cy="347472"/>
          </a:xfrm>
          <a:prstGeom prst="rect">
            <a:avLst/>
          </a:prstGeom>
          <a:noFill/>
          <a:ln/>
        </p:spPr>
        <p:txBody>
          <a:bodyPr wrap="square" lIns="0" tIns="0" rIns="0" bIns="0" rtlCol="0" anchor="ctr"/>
          <a:lstStyle/>
          <a:p>
            <a:pPr indent="0" marL="0">
              <a:buNone/>
            </a:pPr>
            <a:r>
              <a:rPr lang="en-US" sz="1050" dirty="0">
                <a:solidFill>
                  <a:srgbClr val="AEB9DA"/>
                </a:solidFill>
                <a:latin typeface="Consolas" pitchFamily="34" charset="0"/>
                <a:ea typeface="Consolas" pitchFamily="34" charset="-122"/>
                <a:cs typeface="Consolas" pitchFamily="34" charset="-120"/>
              </a:rPr>
              <a:t>0  payload</a:t>
            </a:r>
            <a:endParaRPr lang="en-US" sz="1050" dirty="0"/>
          </a:p>
        </p:txBody>
      </p:sp>
      <p:sp>
        <p:nvSpPr>
          <p:cNvPr id="33" name="Shape 31"/>
          <p:cNvSpPr/>
          <p:nvPr/>
        </p:nvSpPr>
        <p:spPr>
          <a:xfrm>
            <a:off x="6720840" y="4343400"/>
            <a:ext cx="2194560" cy="347472"/>
          </a:xfrm>
          <a:prstGeom prst="rect">
            <a:avLst/>
          </a:prstGeom>
          <a:solidFill>
            <a:srgbClr val="2E3B6E"/>
          </a:solidFill>
          <a:ln w="9525">
            <a:solidFill>
              <a:srgbClr val="44548A"/>
            </a:solidFill>
            <a:prstDash val="solid"/>
          </a:ln>
        </p:spPr>
      </p:sp>
      <p:sp>
        <p:nvSpPr>
          <p:cNvPr id="34" name="Text 32"/>
          <p:cNvSpPr/>
          <p:nvPr/>
        </p:nvSpPr>
        <p:spPr>
          <a:xfrm>
            <a:off x="6812280" y="4343400"/>
            <a:ext cx="2103120" cy="347472"/>
          </a:xfrm>
          <a:prstGeom prst="rect">
            <a:avLst/>
          </a:prstGeom>
          <a:noFill/>
          <a:ln/>
        </p:spPr>
        <p:txBody>
          <a:bodyPr wrap="square" lIns="0" tIns="0" rIns="0" bIns="0" rtlCol="0" anchor="ctr"/>
          <a:lstStyle/>
          <a:p>
            <a:pPr indent="0" marL="0">
              <a:buNone/>
            </a:pPr>
            <a:r>
              <a:rPr lang="en-US" sz="1050" dirty="0">
                <a:solidFill>
                  <a:srgbClr val="AEB9DA"/>
                </a:solidFill>
                <a:latin typeface="Consolas" pitchFamily="34" charset="0"/>
                <a:ea typeface="Consolas" pitchFamily="34" charset="-122"/>
                <a:cs typeface="Consolas" pitchFamily="34" charset="-120"/>
              </a:rPr>
              <a:t>0  payload</a:t>
            </a:r>
            <a:endParaRPr lang="en-US" sz="1050" dirty="0"/>
          </a:p>
        </p:txBody>
      </p:sp>
      <p:sp>
        <p:nvSpPr>
          <p:cNvPr id="35" name="Shape 33"/>
          <p:cNvSpPr/>
          <p:nvPr/>
        </p:nvSpPr>
        <p:spPr>
          <a:xfrm>
            <a:off x="9098280" y="4343400"/>
            <a:ext cx="2194560" cy="347472"/>
          </a:xfrm>
          <a:prstGeom prst="rect">
            <a:avLst/>
          </a:prstGeom>
          <a:solidFill>
            <a:srgbClr val="2E3B6E"/>
          </a:solidFill>
          <a:ln w="9525">
            <a:solidFill>
              <a:srgbClr val="44548A"/>
            </a:solidFill>
            <a:prstDash val="solid"/>
          </a:ln>
        </p:spPr>
      </p:sp>
      <p:sp>
        <p:nvSpPr>
          <p:cNvPr id="36" name="Text 34"/>
          <p:cNvSpPr/>
          <p:nvPr/>
        </p:nvSpPr>
        <p:spPr>
          <a:xfrm>
            <a:off x="9189720" y="4343400"/>
            <a:ext cx="2103120" cy="347472"/>
          </a:xfrm>
          <a:prstGeom prst="rect">
            <a:avLst/>
          </a:prstGeom>
          <a:noFill/>
          <a:ln/>
        </p:spPr>
        <p:txBody>
          <a:bodyPr wrap="square" lIns="0" tIns="0" rIns="0" bIns="0" rtlCol="0" anchor="ctr"/>
          <a:lstStyle/>
          <a:p>
            <a:pPr indent="0" marL="0">
              <a:buNone/>
            </a:pPr>
            <a:r>
              <a:rPr lang="en-US" sz="1050" dirty="0">
                <a:solidFill>
                  <a:srgbClr val="AEB9DA"/>
                </a:solidFill>
                <a:latin typeface="Consolas" pitchFamily="34" charset="0"/>
                <a:ea typeface="Consolas" pitchFamily="34" charset="-122"/>
                <a:cs typeface="Consolas" pitchFamily="34" charset="-120"/>
              </a:rPr>
              <a:t>0  payload</a:t>
            </a:r>
            <a:endParaRPr lang="en-US" sz="1050" dirty="0"/>
          </a:p>
        </p:txBody>
      </p:sp>
      <p:sp>
        <p:nvSpPr>
          <p:cNvPr id="37" name="Shape 35"/>
          <p:cNvSpPr/>
          <p:nvPr/>
        </p:nvSpPr>
        <p:spPr>
          <a:xfrm>
            <a:off x="6720840" y="4754880"/>
            <a:ext cx="2194560" cy="347472"/>
          </a:xfrm>
          <a:prstGeom prst="rect">
            <a:avLst/>
          </a:prstGeom>
          <a:solidFill>
            <a:srgbClr val="2E3B6E"/>
          </a:solidFill>
          <a:ln w="9525">
            <a:solidFill>
              <a:srgbClr val="44548A"/>
            </a:solidFill>
            <a:prstDash val="solid"/>
          </a:ln>
        </p:spPr>
      </p:sp>
      <p:sp>
        <p:nvSpPr>
          <p:cNvPr id="38" name="Text 36"/>
          <p:cNvSpPr/>
          <p:nvPr/>
        </p:nvSpPr>
        <p:spPr>
          <a:xfrm>
            <a:off x="6812280" y="4754880"/>
            <a:ext cx="2103120" cy="347472"/>
          </a:xfrm>
          <a:prstGeom prst="rect">
            <a:avLst/>
          </a:prstGeom>
          <a:noFill/>
          <a:ln/>
        </p:spPr>
        <p:txBody>
          <a:bodyPr wrap="square" lIns="0" tIns="0" rIns="0" bIns="0" rtlCol="0" anchor="ctr"/>
          <a:lstStyle/>
          <a:p>
            <a:pPr indent="0" marL="0">
              <a:buNone/>
            </a:pPr>
            <a:r>
              <a:rPr lang="en-US" sz="1050" dirty="0">
                <a:solidFill>
                  <a:srgbClr val="AEB9DA"/>
                </a:solidFill>
                <a:latin typeface="Consolas" pitchFamily="34" charset="0"/>
                <a:ea typeface="Consolas" pitchFamily="34" charset="-122"/>
                <a:cs typeface="Consolas" pitchFamily="34" charset="-120"/>
              </a:rPr>
              <a:t>0  payload</a:t>
            </a:r>
            <a:endParaRPr lang="en-US" sz="1050" dirty="0"/>
          </a:p>
        </p:txBody>
      </p:sp>
      <p:sp>
        <p:nvSpPr>
          <p:cNvPr id="39" name="Shape 37"/>
          <p:cNvSpPr/>
          <p:nvPr/>
        </p:nvSpPr>
        <p:spPr>
          <a:xfrm>
            <a:off x="9098280" y="4754880"/>
            <a:ext cx="2194560" cy="347472"/>
          </a:xfrm>
          <a:prstGeom prst="rect">
            <a:avLst/>
          </a:prstGeom>
          <a:solidFill>
            <a:srgbClr val="2E3B6E"/>
          </a:solidFill>
          <a:ln w="9525">
            <a:solidFill>
              <a:srgbClr val="44548A"/>
            </a:solidFill>
            <a:prstDash val="solid"/>
          </a:ln>
        </p:spPr>
      </p:sp>
      <p:sp>
        <p:nvSpPr>
          <p:cNvPr id="40" name="Text 38"/>
          <p:cNvSpPr/>
          <p:nvPr/>
        </p:nvSpPr>
        <p:spPr>
          <a:xfrm>
            <a:off x="9189720" y="4754880"/>
            <a:ext cx="2103120" cy="347472"/>
          </a:xfrm>
          <a:prstGeom prst="rect">
            <a:avLst/>
          </a:prstGeom>
          <a:noFill/>
          <a:ln/>
        </p:spPr>
        <p:txBody>
          <a:bodyPr wrap="square" lIns="0" tIns="0" rIns="0" bIns="0" rtlCol="0" anchor="ctr"/>
          <a:lstStyle/>
          <a:p>
            <a:pPr indent="0" marL="0">
              <a:buNone/>
            </a:pPr>
            <a:r>
              <a:rPr lang="en-US" sz="1050" dirty="0">
                <a:solidFill>
                  <a:srgbClr val="AEB9DA"/>
                </a:solidFill>
                <a:latin typeface="Consolas" pitchFamily="34" charset="0"/>
                <a:ea typeface="Consolas" pitchFamily="34" charset="-122"/>
                <a:cs typeface="Consolas" pitchFamily="34" charset="-120"/>
              </a:rPr>
              <a:t>0  payload</a:t>
            </a:r>
            <a:endParaRPr lang="en-US" sz="1050" dirty="0"/>
          </a:p>
        </p:txBody>
      </p:sp>
      <p:sp>
        <p:nvSpPr>
          <p:cNvPr id="41" name="Shape 39"/>
          <p:cNvSpPr/>
          <p:nvPr/>
        </p:nvSpPr>
        <p:spPr>
          <a:xfrm>
            <a:off x="6720840" y="5166360"/>
            <a:ext cx="2194560" cy="347472"/>
          </a:xfrm>
          <a:prstGeom prst="rect">
            <a:avLst/>
          </a:prstGeom>
          <a:solidFill>
            <a:srgbClr val="2E3B6E"/>
          </a:solidFill>
          <a:ln w="9525">
            <a:solidFill>
              <a:srgbClr val="44548A"/>
            </a:solidFill>
            <a:prstDash val="solid"/>
          </a:ln>
        </p:spPr>
      </p:sp>
      <p:sp>
        <p:nvSpPr>
          <p:cNvPr id="42" name="Text 40"/>
          <p:cNvSpPr/>
          <p:nvPr/>
        </p:nvSpPr>
        <p:spPr>
          <a:xfrm>
            <a:off x="6812280" y="5166360"/>
            <a:ext cx="2103120" cy="347472"/>
          </a:xfrm>
          <a:prstGeom prst="rect">
            <a:avLst/>
          </a:prstGeom>
          <a:noFill/>
          <a:ln/>
        </p:spPr>
        <p:txBody>
          <a:bodyPr wrap="square" lIns="0" tIns="0" rIns="0" bIns="0" rtlCol="0" anchor="ctr"/>
          <a:lstStyle/>
          <a:p>
            <a:pPr indent="0" marL="0">
              <a:buNone/>
            </a:pPr>
            <a:r>
              <a:rPr lang="en-US" sz="1050" dirty="0">
                <a:solidFill>
                  <a:srgbClr val="AEB9DA"/>
                </a:solidFill>
                <a:latin typeface="Consolas" pitchFamily="34" charset="0"/>
                <a:ea typeface="Consolas" pitchFamily="34" charset="-122"/>
                <a:cs typeface="Consolas" pitchFamily="34" charset="-120"/>
              </a:rPr>
              <a:t>0  payload</a:t>
            </a:r>
            <a:endParaRPr lang="en-US" sz="1050" dirty="0"/>
          </a:p>
        </p:txBody>
      </p:sp>
      <p:sp>
        <p:nvSpPr>
          <p:cNvPr id="43" name="Shape 41"/>
          <p:cNvSpPr/>
          <p:nvPr/>
        </p:nvSpPr>
        <p:spPr>
          <a:xfrm>
            <a:off x="9098280" y="5166360"/>
            <a:ext cx="2194560" cy="347472"/>
          </a:xfrm>
          <a:prstGeom prst="rect">
            <a:avLst/>
          </a:prstGeom>
          <a:solidFill>
            <a:srgbClr val="2E3B6E"/>
          </a:solidFill>
          <a:ln w="9525">
            <a:solidFill>
              <a:srgbClr val="44548A"/>
            </a:solidFill>
            <a:prstDash val="solid"/>
          </a:ln>
        </p:spPr>
      </p:sp>
      <p:sp>
        <p:nvSpPr>
          <p:cNvPr id="44" name="Text 42"/>
          <p:cNvSpPr/>
          <p:nvPr/>
        </p:nvSpPr>
        <p:spPr>
          <a:xfrm>
            <a:off x="9189720" y="5166360"/>
            <a:ext cx="2103120" cy="347472"/>
          </a:xfrm>
          <a:prstGeom prst="rect">
            <a:avLst/>
          </a:prstGeom>
          <a:noFill/>
          <a:ln/>
        </p:spPr>
        <p:txBody>
          <a:bodyPr wrap="square" lIns="0" tIns="0" rIns="0" bIns="0" rtlCol="0" anchor="ctr"/>
          <a:lstStyle/>
          <a:p>
            <a:pPr indent="0" marL="0">
              <a:buNone/>
            </a:pPr>
            <a:r>
              <a:rPr lang="en-US" sz="1050" dirty="0">
                <a:solidFill>
                  <a:srgbClr val="AEB9DA"/>
                </a:solidFill>
                <a:latin typeface="Consolas" pitchFamily="34" charset="0"/>
                <a:ea typeface="Consolas" pitchFamily="34" charset="-122"/>
                <a:cs typeface="Consolas" pitchFamily="34" charset="-120"/>
              </a:rPr>
              <a:t>0  payload</a:t>
            </a:r>
            <a:endParaRPr lang="en-US" sz="1050" dirty="0"/>
          </a:p>
        </p:txBody>
      </p:sp>
      <p:sp>
        <p:nvSpPr>
          <p:cNvPr id="45" name="Text 43"/>
          <p:cNvSpPr/>
          <p:nvPr/>
        </p:nvSpPr>
        <p:spPr>
          <a:xfrm>
            <a:off x="6309360" y="5806440"/>
            <a:ext cx="5303520" cy="320040"/>
          </a:xfrm>
          <a:prstGeom prst="rect">
            <a:avLst/>
          </a:prstGeom>
          <a:noFill/>
          <a:ln/>
        </p:spPr>
        <p:txBody>
          <a:bodyPr wrap="square" lIns="0" tIns="0" rIns="0" bIns="0" rtlCol="0" anchor="ctr"/>
          <a:lstStyle/>
          <a:p>
            <a:pPr algn="ctr" indent="0" marL="0">
              <a:buNone/>
            </a:pPr>
            <a:r>
              <a:rPr lang="en-US" sz="1150" i="1" dirty="0">
                <a:solidFill>
                  <a:srgbClr val="9FB0D0"/>
                </a:solidFill>
                <a:latin typeface="Calibri" pitchFamily="34" charset="0"/>
                <a:ea typeface="Calibri" pitchFamily="34" charset="-122"/>
                <a:cs typeface="Calibri" pitchFamily="34" charset="-120"/>
              </a:rPr>
              <a:t>Top bit (lfd) = 1 only on the first byte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DATAPATH</a:t>
            </a:r>
            <a:endParaRPr lang="en-US" sz="1200" dirty="0"/>
          </a:p>
        </p:txBody>
      </p:sp>
      <p:sp>
        <p:nvSpPr>
          <p:cNvPr id="3" name="Text 1"/>
          <p:cNvSpPr/>
          <p:nvPr/>
        </p:nvSpPr>
        <p:spPr>
          <a:xfrm>
            <a:off x="548640" y="640080"/>
            <a:ext cx="1042416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router_sync — routing &amp; timeout</a:t>
            </a:r>
            <a:endParaRPr lang="en-US" sz="3000" dirty="0"/>
          </a:p>
        </p:txBody>
      </p:sp>
      <p:sp>
        <p:nvSpPr>
          <p:cNvPr id="4" name="Shape 2"/>
          <p:cNvSpPr/>
          <p:nvPr/>
        </p:nvSpPr>
        <p:spPr>
          <a:xfrm>
            <a:off x="11292840" y="457200"/>
            <a:ext cx="502920" cy="502920"/>
          </a:xfrm>
          <a:prstGeom prst="ellipse">
            <a:avLst/>
          </a:prstGeom>
          <a:solidFill>
            <a:srgbClr val="21295C"/>
          </a:solidFill>
          <a:ln/>
        </p:spPr>
      </p:sp>
      <p:sp>
        <p:nvSpPr>
          <p:cNvPr id="5" name="Text 3"/>
          <p:cNvSpPr/>
          <p:nvPr/>
        </p:nvSpPr>
        <p:spPr>
          <a:xfrm>
            <a:off x="112928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6" name="Shape 4"/>
          <p:cNvSpPr/>
          <p:nvPr/>
        </p:nvSpPr>
        <p:spPr>
          <a:xfrm>
            <a:off x="548640" y="2057400"/>
            <a:ext cx="5440680" cy="1920240"/>
          </a:xfrm>
          <a:prstGeom prst="roundRect">
            <a:avLst>
              <a:gd name="adj" fmla="val 4286"/>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7" name="Shape 5"/>
          <p:cNvSpPr/>
          <p:nvPr/>
        </p:nvSpPr>
        <p:spPr>
          <a:xfrm>
            <a:off x="822960" y="2331720"/>
            <a:ext cx="457200" cy="457200"/>
          </a:xfrm>
          <a:prstGeom prst="ellipse">
            <a:avLst/>
          </a:prstGeom>
          <a:solidFill>
            <a:srgbClr val="065A82"/>
          </a:solidFill>
          <a:ln/>
        </p:spPr>
      </p:sp>
      <p:sp>
        <p:nvSpPr>
          <p:cNvPr id="8" name="Text 6"/>
          <p:cNvSpPr/>
          <p:nvPr/>
        </p:nvSpPr>
        <p:spPr>
          <a:xfrm>
            <a:off x="822960" y="2331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463040" y="2313432"/>
            <a:ext cx="429768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Write-enable routing</a:t>
            </a:r>
            <a:endParaRPr lang="en-US" sz="1600" dirty="0"/>
          </a:p>
        </p:txBody>
      </p:sp>
      <p:sp>
        <p:nvSpPr>
          <p:cNvPr id="10" name="Text 8"/>
          <p:cNvSpPr/>
          <p:nvPr/>
        </p:nvSpPr>
        <p:spPr>
          <a:xfrm>
            <a:off x="868680" y="2880360"/>
            <a:ext cx="4892040" cy="1005840"/>
          </a:xfrm>
          <a:prstGeom prst="rect">
            <a:avLst/>
          </a:prstGeom>
          <a:noFill/>
          <a:ln/>
        </p:spPr>
        <p:txBody>
          <a:bodyPr wrap="square" lIns="0" tIns="0" rIns="0" bIns="0" rtlCol="0" anchor="ctr"/>
          <a:lstStyle/>
          <a:p>
            <a:pPr indent="0" marL="0">
              <a:lnSpc>
                <a:spcPct val="112000"/>
              </a:lnSpc>
              <a:buNone/>
            </a:pPr>
            <a:r>
              <a:rPr lang="en-US" sz="1300" dirty="0">
                <a:solidFill>
                  <a:srgbClr val="5B6B7B"/>
                </a:solidFill>
                <a:latin typeface="Calibri" pitchFamily="34" charset="0"/>
                <a:ea typeface="Calibri" pitchFamily="34" charset="-122"/>
                <a:cs typeface="Calibri" pitchFamily="34" charset="-120"/>
              </a:rPr>
              <a:t>Decodes the latched address and asserts exactly one of write_enb[2:0], so a packet is written to only its target FIFO.</a:t>
            </a:r>
            <a:endParaRPr lang="en-US" sz="1300" dirty="0"/>
          </a:p>
        </p:txBody>
      </p:sp>
      <p:sp>
        <p:nvSpPr>
          <p:cNvPr id="11" name="Shape 9"/>
          <p:cNvSpPr/>
          <p:nvPr/>
        </p:nvSpPr>
        <p:spPr>
          <a:xfrm>
            <a:off x="6172200" y="2057400"/>
            <a:ext cx="5440680" cy="1920240"/>
          </a:xfrm>
          <a:prstGeom prst="roundRect">
            <a:avLst>
              <a:gd name="adj" fmla="val 4286"/>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12" name="Shape 10"/>
          <p:cNvSpPr/>
          <p:nvPr/>
        </p:nvSpPr>
        <p:spPr>
          <a:xfrm>
            <a:off x="6446520" y="2331720"/>
            <a:ext cx="457200" cy="457200"/>
          </a:xfrm>
          <a:prstGeom prst="ellipse">
            <a:avLst/>
          </a:prstGeom>
          <a:solidFill>
            <a:srgbClr val="1C7293"/>
          </a:solidFill>
          <a:ln/>
        </p:spPr>
      </p:sp>
      <p:sp>
        <p:nvSpPr>
          <p:cNvPr id="13" name="Text 11"/>
          <p:cNvSpPr/>
          <p:nvPr/>
        </p:nvSpPr>
        <p:spPr>
          <a:xfrm>
            <a:off x="6446520" y="2331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7086600" y="2313432"/>
            <a:ext cx="429768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valid_out signals</a:t>
            </a:r>
            <a:endParaRPr lang="en-US" sz="1600" dirty="0"/>
          </a:p>
        </p:txBody>
      </p:sp>
      <p:sp>
        <p:nvSpPr>
          <p:cNvPr id="15" name="Text 13"/>
          <p:cNvSpPr/>
          <p:nvPr/>
        </p:nvSpPr>
        <p:spPr>
          <a:xfrm>
            <a:off x="6492240" y="2880360"/>
            <a:ext cx="4892040" cy="1005840"/>
          </a:xfrm>
          <a:prstGeom prst="rect">
            <a:avLst/>
          </a:prstGeom>
          <a:noFill/>
          <a:ln/>
        </p:spPr>
        <p:txBody>
          <a:bodyPr wrap="square" lIns="0" tIns="0" rIns="0" bIns="0" rtlCol="0" anchor="ctr"/>
          <a:lstStyle/>
          <a:p>
            <a:pPr indent="0" marL="0">
              <a:lnSpc>
                <a:spcPct val="112000"/>
              </a:lnSpc>
              <a:buNone/>
            </a:pPr>
            <a:r>
              <a:rPr lang="en-US" sz="1300" dirty="0">
                <a:solidFill>
                  <a:srgbClr val="5B6B7B"/>
                </a:solidFill>
                <a:latin typeface="Calibri" pitchFamily="34" charset="0"/>
                <a:ea typeface="Calibri" pitchFamily="34" charset="-122"/>
                <a:cs typeface="Calibri" pitchFamily="34" charset="-120"/>
              </a:rPr>
              <a:t>Drives valid_out_x = ~empty_x, telling each channel when its FIFO holds data ready to be read.</a:t>
            </a:r>
            <a:endParaRPr lang="en-US" sz="1300" dirty="0"/>
          </a:p>
        </p:txBody>
      </p:sp>
      <p:sp>
        <p:nvSpPr>
          <p:cNvPr id="16" name="Shape 14"/>
          <p:cNvSpPr/>
          <p:nvPr/>
        </p:nvSpPr>
        <p:spPr>
          <a:xfrm>
            <a:off x="548640" y="4160520"/>
            <a:ext cx="5440680" cy="1920240"/>
          </a:xfrm>
          <a:prstGeom prst="roundRect">
            <a:avLst>
              <a:gd name="adj" fmla="val 4286"/>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17" name="Shape 15"/>
          <p:cNvSpPr/>
          <p:nvPr/>
        </p:nvSpPr>
        <p:spPr>
          <a:xfrm>
            <a:off x="822960" y="4434840"/>
            <a:ext cx="457200" cy="457200"/>
          </a:xfrm>
          <a:prstGeom prst="ellipse">
            <a:avLst/>
          </a:prstGeom>
          <a:solidFill>
            <a:srgbClr val="F2A65A"/>
          </a:solidFill>
          <a:ln/>
        </p:spPr>
      </p:sp>
      <p:sp>
        <p:nvSpPr>
          <p:cNvPr id="18" name="Text 16"/>
          <p:cNvSpPr/>
          <p:nvPr/>
        </p:nvSpPr>
        <p:spPr>
          <a:xfrm>
            <a:off x="82296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1463040" y="4416552"/>
            <a:ext cx="429768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fifo_full mux</a:t>
            </a:r>
            <a:endParaRPr lang="en-US" sz="1600" dirty="0"/>
          </a:p>
        </p:txBody>
      </p:sp>
      <p:sp>
        <p:nvSpPr>
          <p:cNvPr id="20" name="Text 18"/>
          <p:cNvSpPr/>
          <p:nvPr/>
        </p:nvSpPr>
        <p:spPr>
          <a:xfrm>
            <a:off x="868680" y="4983480"/>
            <a:ext cx="4892040" cy="1005840"/>
          </a:xfrm>
          <a:prstGeom prst="rect">
            <a:avLst/>
          </a:prstGeom>
          <a:noFill/>
          <a:ln/>
        </p:spPr>
        <p:txBody>
          <a:bodyPr wrap="square" lIns="0" tIns="0" rIns="0" bIns="0" rtlCol="0" anchor="ctr"/>
          <a:lstStyle/>
          <a:p>
            <a:pPr indent="0" marL="0">
              <a:lnSpc>
                <a:spcPct val="112000"/>
              </a:lnSpc>
              <a:buNone/>
            </a:pPr>
            <a:r>
              <a:rPr lang="en-US" sz="1300" dirty="0">
                <a:solidFill>
                  <a:srgbClr val="5B6B7B"/>
                </a:solidFill>
                <a:latin typeface="Calibri" pitchFamily="34" charset="0"/>
                <a:ea typeface="Calibri" pitchFamily="34" charset="-122"/>
                <a:cs typeface="Calibri" pitchFamily="34" charset="-120"/>
              </a:rPr>
              <a:t>Selects the full flag of the active FIFO and feeds it back to the FSM as fifo_full.</a:t>
            </a:r>
            <a:endParaRPr lang="en-US" sz="1300" dirty="0"/>
          </a:p>
        </p:txBody>
      </p:sp>
      <p:sp>
        <p:nvSpPr>
          <p:cNvPr id="21" name="Shape 19"/>
          <p:cNvSpPr/>
          <p:nvPr/>
        </p:nvSpPr>
        <p:spPr>
          <a:xfrm>
            <a:off x="6172200" y="4160520"/>
            <a:ext cx="5440680" cy="1920240"/>
          </a:xfrm>
          <a:prstGeom prst="roundRect">
            <a:avLst>
              <a:gd name="adj" fmla="val 4286"/>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22" name="Shape 20"/>
          <p:cNvSpPr/>
          <p:nvPr/>
        </p:nvSpPr>
        <p:spPr>
          <a:xfrm>
            <a:off x="6446520" y="4434840"/>
            <a:ext cx="457200" cy="457200"/>
          </a:xfrm>
          <a:prstGeom prst="ellipse">
            <a:avLst/>
          </a:prstGeom>
          <a:solidFill>
            <a:srgbClr val="B85042"/>
          </a:solidFill>
          <a:ln/>
        </p:spPr>
      </p:sp>
      <p:sp>
        <p:nvSpPr>
          <p:cNvPr id="23" name="Text 21"/>
          <p:cNvSpPr/>
          <p:nvPr/>
        </p:nvSpPr>
        <p:spPr>
          <a:xfrm>
            <a:off x="644652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p:nvPr/>
        </p:nvSpPr>
        <p:spPr>
          <a:xfrm>
            <a:off x="7086600" y="4416552"/>
            <a:ext cx="4297680" cy="457200"/>
          </a:xfrm>
          <a:prstGeom prst="rect">
            <a:avLst/>
          </a:prstGeom>
          <a:noFill/>
          <a:ln/>
        </p:spPr>
        <p:txBody>
          <a:bodyPr wrap="square" lIns="0" tIns="0" rIns="0" bIns="0" rtlCol="0" anchor="ctr"/>
          <a:lstStyle/>
          <a:p>
            <a:pPr indent="0" marL="0">
              <a:buNone/>
            </a:pPr>
            <a:r>
              <a:rPr lang="en-US" sz="1600" b="1" dirty="0">
                <a:solidFill>
                  <a:srgbClr val="21295C"/>
                </a:solidFill>
                <a:latin typeface="Calibri" pitchFamily="34" charset="0"/>
                <a:ea typeface="Calibri" pitchFamily="34" charset="-122"/>
                <a:cs typeface="Calibri" pitchFamily="34" charset="-120"/>
              </a:rPr>
              <a:t>Soft-reset timeout</a:t>
            </a:r>
            <a:endParaRPr lang="en-US" sz="1600" dirty="0"/>
          </a:p>
        </p:txBody>
      </p:sp>
      <p:sp>
        <p:nvSpPr>
          <p:cNvPr id="25" name="Text 23"/>
          <p:cNvSpPr/>
          <p:nvPr/>
        </p:nvSpPr>
        <p:spPr>
          <a:xfrm>
            <a:off x="6492240" y="4983480"/>
            <a:ext cx="4892040" cy="1005840"/>
          </a:xfrm>
          <a:prstGeom prst="rect">
            <a:avLst/>
          </a:prstGeom>
          <a:noFill/>
          <a:ln/>
        </p:spPr>
        <p:txBody>
          <a:bodyPr wrap="square" lIns="0" tIns="0" rIns="0" bIns="0" rtlCol="0" anchor="ctr"/>
          <a:lstStyle/>
          <a:p>
            <a:pPr indent="0" marL="0">
              <a:lnSpc>
                <a:spcPct val="112000"/>
              </a:lnSpc>
              <a:buNone/>
            </a:pPr>
            <a:r>
              <a:rPr lang="en-US" sz="1300" dirty="0">
                <a:solidFill>
                  <a:srgbClr val="5B6B7B"/>
                </a:solidFill>
                <a:latin typeface="Calibri" pitchFamily="34" charset="0"/>
                <a:ea typeface="Calibri" pitchFamily="34" charset="-122"/>
                <a:cs typeface="Calibri" pitchFamily="34" charset="-120"/>
              </a:rPr>
              <a:t>One counter per channel. If a channel has data but isn't read for 30 clocks, it raises soft_reset — clearing a stuck FIFO so the router never deadlocks.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'WHY'</a:t>
            </a:r>
            <a:endParaRPr lang="en-US" sz="1200" dirty="0"/>
          </a:p>
        </p:txBody>
      </p:sp>
      <p:sp>
        <p:nvSpPr>
          <p:cNvPr id="3" name="Text 1"/>
          <p:cNvSpPr/>
          <p:nvPr/>
        </p:nvSpPr>
        <p:spPr>
          <a:xfrm>
            <a:off x="548640" y="640080"/>
            <a:ext cx="1042416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Design decisions a senior will probe</a:t>
            </a:r>
            <a:endParaRPr lang="en-US" sz="3000" dirty="0"/>
          </a:p>
        </p:txBody>
      </p:sp>
      <p:sp>
        <p:nvSpPr>
          <p:cNvPr id="4" name="Shape 2"/>
          <p:cNvSpPr/>
          <p:nvPr/>
        </p:nvSpPr>
        <p:spPr>
          <a:xfrm>
            <a:off x="11292840" y="457200"/>
            <a:ext cx="502920" cy="502920"/>
          </a:xfrm>
          <a:prstGeom prst="ellipse">
            <a:avLst/>
          </a:prstGeom>
          <a:solidFill>
            <a:srgbClr val="21295C"/>
          </a:solidFill>
          <a:ln/>
        </p:spPr>
      </p:sp>
      <p:sp>
        <p:nvSpPr>
          <p:cNvPr id="5" name="Text 3"/>
          <p:cNvSpPr/>
          <p:nvPr/>
        </p:nvSpPr>
        <p:spPr>
          <a:xfrm>
            <a:off x="112928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6" name="Shape 4"/>
          <p:cNvSpPr/>
          <p:nvPr/>
        </p:nvSpPr>
        <p:spPr>
          <a:xfrm>
            <a:off x="548640" y="1920240"/>
            <a:ext cx="3520440" cy="1920240"/>
          </a:xfrm>
          <a:prstGeom prst="roundRect">
            <a:avLst>
              <a:gd name="adj" fmla="val 4286"/>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7" name="Shape 5"/>
          <p:cNvSpPr/>
          <p:nvPr/>
        </p:nvSpPr>
        <p:spPr>
          <a:xfrm>
            <a:off x="548640" y="1920240"/>
            <a:ext cx="3520440" cy="109728"/>
          </a:xfrm>
          <a:prstGeom prst="roundRect">
            <a:avLst/>
          </a:prstGeom>
          <a:solidFill>
            <a:srgbClr val="065A82"/>
          </a:solidFill>
          <a:ln/>
        </p:spPr>
      </p:sp>
      <p:sp>
        <p:nvSpPr>
          <p:cNvPr id="8" name="Text 6"/>
          <p:cNvSpPr/>
          <p:nvPr/>
        </p:nvSpPr>
        <p:spPr>
          <a:xfrm>
            <a:off x="822960" y="2240280"/>
            <a:ext cx="3017520" cy="640080"/>
          </a:xfrm>
          <a:prstGeom prst="rect">
            <a:avLst/>
          </a:prstGeom>
          <a:noFill/>
          <a:ln/>
        </p:spPr>
        <p:txBody>
          <a:bodyPr wrap="square" lIns="0" tIns="0" rIns="0" bIns="0" rtlCol="0" anchor="ctr"/>
          <a:lstStyle/>
          <a:p>
            <a:pPr indent="0" marL="0">
              <a:buNone/>
            </a:pPr>
            <a:r>
              <a:rPr lang="en-US" sz="1550" b="1" dirty="0">
                <a:solidFill>
                  <a:srgbClr val="21295C"/>
                </a:solidFill>
                <a:latin typeface="Calibri" pitchFamily="34" charset="0"/>
                <a:ea typeface="Calibri" pitchFamily="34" charset="-122"/>
                <a:cs typeface="Calibri" pitchFamily="34" charset="-120"/>
              </a:rPr>
              <a:t>9-bit FIFO word</a:t>
            </a:r>
            <a:endParaRPr lang="en-US" sz="1550" dirty="0"/>
          </a:p>
        </p:txBody>
      </p:sp>
      <p:sp>
        <p:nvSpPr>
          <p:cNvPr id="9" name="Text 7"/>
          <p:cNvSpPr/>
          <p:nvPr/>
        </p:nvSpPr>
        <p:spPr>
          <a:xfrm>
            <a:off x="822960" y="2880360"/>
            <a:ext cx="3017520" cy="868680"/>
          </a:xfrm>
          <a:prstGeom prst="rect">
            <a:avLst/>
          </a:prstGeom>
          <a:noFill/>
          <a:ln/>
        </p:spPr>
        <p:txBody>
          <a:bodyPr wrap="square" lIns="0" tIns="0" rIns="0" bIns="0" rtlCol="0" anchor="ctr"/>
          <a:lstStyle/>
          <a:p>
            <a:pPr indent="0" marL="0">
              <a:lnSpc>
                <a:spcPct val="112000"/>
              </a:lnSpc>
              <a:buNone/>
            </a:pPr>
            <a:r>
              <a:rPr lang="en-US" sz="1250" dirty="0">
                <a:solidFill>
                  <a:srgbClr val="5B6B7B"/>
                </a:solidFill>
                <a:latin typeface="Calibri" pitchFamily="34" charset="0"/>
                <a:ea typeface="Calibri" pitchFamily="34" charset="-122"/>
                <a:cs typeface="Calibri" pitchFamily="34" charset="-120"/>
              </a:rPr>
              <a:t>The 9th bit tags the header byte so packet boundaries survive inside the FIFO.</a:t>
            </a:r>
            <a:endParaRPr lang="en-US" sz="1250" dirty="0"/>
          </a:p>
        </p:txBody>
      </p:sp>
      <p:sp>
        <p:nvSpPr>
          <p:cNvPr id="10" name="Shape 8"/>
          <p:cNvSpPr/>
          <p:nvPr/>
        </p:nvSpPr>
        <p:spPr>
          <a:xfrm>
            <a:off x="4251960" y="1920240"/>
            <a:ext cx="3520440" cy="1920240"/>
          </a:xfrm>
          <a:prstGeom prst="roundRect">
            <a:avLst>
              <a:gd name="adj" fmla="val 4286"/>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11" name="Shape 9"/>
          <p:cNvSpPr/>
          <p:nvPr/>
        </p:nvSpPr>
        <p:spPr>
          <a:xfrm>
            <a:off x="4251960" y="1920240"/>
            <a:ext cx="3520440" cy="109728"/>
          </a:xfrm>
          <a:prstGeom prst="roundRect">
            <a:avLst/>
          </a:prstGeom>
          <a:solidFill>
            <a:srgbClr val="1C7293"/>
          </a:solidFill>
          <a:ln/>
        </p:spPr>
      </p:sp>
      <p:sp>
        <p:nvSpPr>
          <p:cNvPr id="12" name="Text 10"/>
          <p:cNvSpPr/>
          <p:nvPr/>
        </p:nvSpPr>
        <p:spPr>
          <a:xfrm>
            <a:off x="4526280" y="2240280"/>
            <a:ext cx="3017520" cy="640080"/>
          </a:xfrm>
          <a:prstGeom prst="rect">
            <a:avLst/>
          </a:prstGeom>
          <a:noFill/>
          <a:ln/>
        </p:spPr>
        <p:txBody>
          <a:bodyPr wrap="square" lIns="0" tIns="0" rIns="0" bIns="0" rtlCol="0" anchor="ctr"/>
          <a:lstStyle/>
          <a:p>
            <a:pPr indent="0" marL="0">
              <a:buNone/>
            </a:pPr>
            <a:r>
              <a:rPr lang="en-US" sz="1550" b="1" dirty="0">
                <a:solidFill>
                  <a:srgbClr val="21295C"/>
                </a:solidFill>
                <a:latin typeface="Calibri" pitchFamily="34" charset="0"/>
                <a:ea typeface="Calibri" pitchFamily="34" charset="-122"/>
                <a:cs typeface="Calibri" pitchFamily="34" charset="-120"/>
              </a:rPr>
              <a:t>Separate FSM</a:t>
            </a:r>
            <a:endParaRPr lang="en-US" sz="1550" dirty="0"/>
          </a:p>
        </p:txBody>
      </p:sp>
      <p:sp>
        <p:nvSpPr>
          <p:cNvPr id="13" name="Text 11"/>
          <p:cNvSpPr/>
          <p:nvPr/>
        </p:nvSpPr>
        <p:spPr>
          <a:xfrm>
            <a:off x="4526280" y="2880360"/>
            <a:ext cx="3017520" cy="868680"/>
          </a:xfrm>
          <a:prstGeom prst="rect">
            <a:avLst/>
          </a:prstGeom>
          <a:noFill/>
          <a:ln/>
        </p:spPr>
        <p:txBody>
          <a:bodyPr wrap="square" lIns="0" tIns="0" rIns="0" bIns="0" rtlCol="0" anchor="ctr"/>
          <a:lstStyle/>
          <a:p>
            <a:pPr indent="0" marL="0">
              <a:lnSpc>
                <a:spcPct val="112000"/>
              </a:lnSpc>
              <a:buNone/>
            </a:pPr>
            <a:r>
              <a:rPr lang="en-US" sz="1250" dirty="0">
                <a:solidFill>
                  <a:srgbClr val="5B6B7B"/>
                </a:solidFill>
                <a:latin typeface="Calibri" pitchFamily="34" charset="0"/>
                <a:ea typeface="Calibri" pitchFamily="34" charset="-122"/>
                <a:cs typeface="Calibri" pitchFamily="34" charset="-120"/>
              </a:rPr>
              <a:t>One central controller = clean, timing-safe control; datapath blocks stay simple and reusable.</a:t>
            </a:r>
            <a:endParaRPr lang="en-US" sz="1250" dirty="0"/>
          </a:p>
        </p:txBody>
      </p:sp>
      <p:sp>
        <p:nvSpPr>
          <p:cNvPr id="14" name="Shape 12"/>
          <p:cNvSpPr/>
          <p:nvPr/>
        </p:nvSpPr>
        <p:spPr>
          <a:xfrm>
            <a:off x="7955280" y="1920240"/>
            <a:ext cx="3520440" cy="1920240"/>
          </a:xfrm>
          <a:prstGeom prst="roundRect">
            <a:avLst>
              <a:gd name="adj" fmla="val 4286"/>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15" name="Shape 13"/>
          <p:cNvSpPr/>
          <p:nvPr/>
        </p:nvSpPr>
        <p:spPr>
          <a:xfrm>
            <a:off x="7955280" y="1920240"/>
            <a:ext cx="3520440" cy="109728"/>
          </a:xfrm>
          <a:prstGeom prst="roundRect">
            <a:avLst/>
          </a:prstGeom>
          <a:solidFill>
            <a:srgbClr val="02C39A"/>
          </a:solidFill>
          <a:ln/>
        </p:spPr>
      </p:sp>
      <p:sp>
        <p:nvSpPr>
          <p:cNvPr id="16" name="Text 14"/>
          <p:cNvSpPr/>
          <p:nvPr/>
        </p:nvSpPr>
        <p:spPr>
          <a:xfrm>
            <a:off x="8229600" y="2240280"/>
            <a:ext cx="3017520" cy="640080"/>
          </a:xfrm>
          <a:prstGeom prst="rect">
            <a:avLst/>
          </a:prstGeom>
          <a:noFill/>
          <a:ln/>
        </p:spPr>
        <p:txBody>
          <a:bodyPr wrap="square" lIns="0" tIns="0" rIns="0" bIns="0" rtlCol="0" anchor="ctr"/>
          <a:lstStyle/>
          <a:p>
            <a:pPr indent="0" marL="0">
              <a:buNone/>
            </a:pPr>
            <a:r>
              <a:rPr lang="en-US" sz="1550" b="1" dirty="0">
                <a:solidFill>
                  <a:srgbClr val="21295C"/>
                </a:solidFill>
                <a:latin typeface="Calibri" pitchFamily="34" charset="0"/>
                <a:ea typeface="Calibri" pitchFamily="34" charset="-122"/>
                <a:cs typeface="Calibri" pitchFamily="34" charset="-120"/>
              </a:rPr>
              <a:t>Store-on-full, not drop</a:t>
            </a:r>
            <a:endParaRPr lang="en-US" sz="1550" dirty="0"/>
          </a:p>
        </p:txBody>
      </p:sp>
      <p:sp>
        <p:nvSpPr>
          <p:cNvPr id="17" name="Text 15"/>
          <p:cNvSpPr/>
          <p:nvPr/>
        </p:nvSpPr>
        <p:spPr>
          <a:xfrm>
            <a:off x="8229600" y="2880360"/>
            <a:ext cx="3017520" cy="868680"/>
          </a:xfrm>
          <a:prstGeom prst="rect">
            <a:avLst/>
          </a:prstGeom>
          <a:noFill/>
          <a:ln/>
        </p:spPr>
        <p:txBody>
          <a:bodyPr wrap="square" lIns="0" tIns="0" rIns="0" bIns="0" rtlCol="0" anchor="ctr"/>
          <a:lstStyle/>
          <a:p>
            <a:pPr indent="0" marL="0">
              <a:lnSpc>
                <a:spcPct val="112000"/>
              </a:lnSpc>
              <a:buNone/>
            </a:pPr>
            <a:r>
              <a:rPr lang="en-US" sz="1250" dirty="0">
                <a:solidFill>
                  <a:srgbClr val="5B6B7B"/>
                </a:solidFill>
                <a:latin typeface="Calibri" pitchFamily="34" charset="0"/>
                <a:ea typeface="Calibri" pitchFamily="34" charset="-122"/>
                <a:cs typeface="Calibri" pitchFamily="34" charset="-120"/>
              </a:rPr>
              <a:t>full_state_byte holds the stalled byte so a full FIFO never loses data.</a:t>
            </a:r>
            <a:endParaRPr lang="en-US" sz="1250" dirty="0"/>
          </a:p>
        </p:txBody>
      </p:sp>
      <p:sp>
        <p:nvSpPr>
          <p:cNvPr id="18" name="Shape 16"/>
          <p:cNvSpPr/>
          <p:nvPr/>
        </p:nvSpPr>
        <p:spPr>
          <a:xfrm>
            <a:off x="548640" y="4069080"/>
            <a:ext cx="3520440" cy="1920240"/>
          </a:xfrm>
          <a:prstGeom prst="roundRect">
            <a:avLst>
              <a:gd name="adj" fmla="val 4286"/>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19" name="Shape 17"/>
          <p:cNvSpPr/>
          <p:nvPr/>
        </p:nvSpPr>
        <p:spPr>
          <a:xfrm>
            <a:off x="548640" y="4069080"/>
            <a:ext cx="3520440" cy="109728"/>
          </a:xfrm>
          <a:prstGeom prst="roundRect">
            <a:avLst/>
          </a:prstGeom>
          <a:solidFill>
            <a:srgbClr val="F2A65A"/>
          </a:solidFill>
          <a:ln/>
        </p:spPr>
      </p:sp>
      <p:sp>
        <p:nvSpPr>
          <p:cNvPr id="20" name="Text 18"/>
          <p:cNvSpPr/>
          <p:nvPr/>
        </p:nvSpPr>
        <p:spPr>
          <a:xfrm>
            <a:off x="822960" y="4389120"/>
            <a:ext cx="3017520" cy="640080"/>
          </a:xfrm>
          <a:prstGeom prst="rect">
            <a:avLst/>
          </a:prstGeom>
          <a:noFill/>
          <a:ln/>
        </p:spPr>
        <p:txBody>
          <a:bodyPr wrap="square" lIns="0" tIns="0" rIns="0" bIns="0" rtlCol="0" anchor="ctr"/>
          <a:lstStyle/>
          <a:p>
            <a:pPr indent="0" marL="0">
              <a:buNone/>
            </a:pPr>
            <a:r>
              <a:rPr lang="en-US" sz="1550" b="1" dirty="0">
                <a:solidFill>
                  <a:srgbClr val="21295C"/>
                </a:solidFill>
                <a:latin typeface="Calibri" pitchFamily="34" charset="0"/>
                <a:ea typeface="Calibri" pitchFamily="34" charset="-122"/>
                <a:cs typeface="Calibri" pitchFamily="34" charset="-120"/>
              </a:rPr>
              <a:t>Parity by XOR</a:t>
            </a:r>
            <a:endParaRPr lang="en-US" sz="1550" dirty="0"/>
          </a:p>
        </p:txBody>
      </p:sp>
      <p:sp>
        <p:nvSpPr>
          <p:cNvPr id="21" name="Text 19"/>
          <p:cNvSpPr/>
          <p:nvPr/>
        </p:nvSpPr>
        <p:spPr>
          <a:xfrm>
            <a:off x="822960" y="5029200"/>
            <a:ext cx="3017520" cy="868680"/>
          </a:xfrm>
          <a:prstGeom prst="rect">
            <a:avLst/>
          </a:prstGeom>
          <a:noFill/>
          <a:ln/>
        </p:spPr>
        <p:txBody>
          <a:bodyPr wrap="square" lIns="0" tIns="0" rIns="0" bIns="0" rtlCol="0" anchor="ctr"/>
          <a:lstStyle/>
          <a:p>
            <a:pPr indent="0" marL="0">
              <a:lnSpc>
                <a:spcPct val="112000"/>
              </a:lnSpc>
              <a:buNone/>
            </a:pPr>
            <a:r>
              <a:rPr lang="en-US" sz="1250" dirty="0">
                <a:solidFill>
                  <a:srgbClr val="5B6B7B"/>
                </a:solidFill>
                <a:latin typeface="Calibri" pitchFamily="34" charset="0"/>
                <a:ea typeface="Calibri" pitchFamily="34" charset="-122"/>
                <a:cs typeface="Calibri" pitchFamily="34" charset="-120"/>
              </a:rPr>
              <a:t>Cheap 1-byte checksum; accumulate on write, compare at end — minimal hardware.</a:t>
            </a:r>
            <a:endParaRPr lang="en-US" sz="1250" dirty="0"/>
          </a:p>
        </p:txBody>
      </p:sp>
      <p:sp>
        <p:nvSpPr>
          <p:cNvPr id="22" name="Shape 20"/>
          <p:cNvSpPr/>
          <p:nvPr/>
        </p:nvSpPr>
        <p:spPr>
          <a:xfrm>
            <a:off x="4251960" y="4069080"/>
            <a:ext cx="3520440" cy="1920240"/>
          </a:xfrm>
          <a:prstGeom prst="roundRect">
            <a:avLst>
              <a:gd name="adj" fmla="val 4286"/>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23" name="Shape 21"/>
          <p:cNvSpPr/>
          <p:nvPr/>
        </p:nvSpPr>
        <p:spPr>
          <a:xfrm>
            <a:off x="4251960" y="4069080"/>
            <a:ext cx="3520440" cy="109728"/>
          </a:xfrm>
          <a:prstGeom prst="roundRect">
            <a:avLst/>
          </a:prstGeom>
          <a:solidFill>
            <a:srgbClr val="B85042"/>
          </a:solidFill>
          <a:ln/>
        </p:spPr>
      </p:sp>
      <p:sp>
        <p:nvSpPr>
          <p:cNvPr id="24" name="Text 22"/>
          <p:cNvSpPr/>
          <p:nvPr/>
        </p:nvSpPr>
        <p:spPr>
          <a:xfrm>
            <a:off x="4526280" y="4389120"/>
            <a:ext cx="3017520" cy="640080"/>
          </a:xfrm>
          <a:prstGeom prst="rect">
            <a:avLst/>
          </a:prstGeom>
          <a:noFill/>
          <a:ln/>
        </p:spPr>
        <p:txBody>
          <a:bodyPr wrap="square" lIns="0" tIns="0" rIns="0" bIns="0" rtlCol="0" anchor="ctr"/>
          <a:lstStyle/>
          <a:p>
            <a:pPr indent="0" marL="0">
              <a:buNone/>
            </a:pPr>
            <a:r>
              <a:rPr lang="en-US" sz="1550" b="1" dirty="0">
                <a:solidFill>
                  <a:srgbClr val="21295C"/>
                </a:solidFill>
                <a:latin typeface="Calibri" pitchFamily="34" charset="0"/>
                <a:ea typeface="Calibri" pitchFamily="34" charset="-122"/>
                <a:cs typeface="Calibri" pitchFamily="34" charset="-120"/>
              </a:rPr>
              <a:t>30-cycle soft reset</a:t>
            </a:r>
            <a:endParaRPr lang="en-US" sz="1550" dirty="0"/>
          </a:p>
        </p:txBody>
      </p:sp>
      <p:sp>
        <p:nvSpPr>
          <p:cNvPr id="25" name="Text 23"/>
          <p:cNvSpPr/>
          <p:nvPr/>
        </p:nvSpPr>
        <p:spPr>
          <a:xfrm>
            <a:off x="4526280" y="5029200"/>
            <a:ext cx="3017520" cy="868680"/>
          </a:xfrm>
          <a:prstGeom prst="rect">
            <a:avLst/>
          </a:prstGeom>
          <a:noFill/>
          <a:ln/>
        </p:spPr>
        <p:txBody>
          <a:bodyPr wrap="square" lIns="0" tIns="0" rIns="0" bIns="0" rtlCol="0" anchor="ctr"/>
          <a:lstStyle/>
          <a:p>
            <a:pPr indent="0" marL="0">
              <a:lnSpc>
                <a:spcPct val="112000"/>
              </a:lnSpc>
              <a:buNone/>
            </a:pPr>
            <a:r>
              <a:rPr lang="en-US" sz="1250" dirty="0">
                <a:solidFill>
                  <a:srgbClr val="5B6B7B"/>
                </a:solidFill>
                <a:latin typeface="Calibri" pitchFamily="34" charset="0"/>
                <a:ea typeface="Calibri" pitchFamily="34" charset="-122"/>
                <a:cs typeface="Calibri" pitchFamily="34" charset="-120"/>
              </a:rPr>
              <a:t>A dead channel self-heals instead of blocking the router forever (livelock guard).</a:t>
            </a:r>
            <a:endParaRPr lang="en-US" sz="1250" dirty="0"/>
          </a:p>
        </p:txBody>
      </p:sp>
      <p:sp>
        <p:nvSpPr>
          <p:cNvPr id="26" name="Shape 24"/>
          <p:cNvSpPr/>
          <p:nvPr/>
        </p:nvSpPr>
        <p:spPr>
          <a:xfrm>
            <a:off x="7955280" y="4069080"/>
            <a:ext cx="3520440" cy="1920240"/>
          </a:xfrm>
          <a:prstGeom prst="roundRect">
            <a:avLst>
              <a:gd name="adj" fmla="val 4286"/>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27" name="Shape 25"/>
          <p:cNvSpPr/>
          <p:nvPr/>
        </p:nvSpPr>
        <p:spPr>
          <a:xfrm>
            <a:off x="7955280" y="4069080"/>
            <a:ext cx="3520440" cy="109728"/>
          </a:xfrm>
          <a:prstGeom prst="roundRect">
            <a:avLst/>
          </a:prstGeom>
          <a:solidFill>
            <a:srgbClr val="6D6875"/>
          </a:solidFill>
          <a:ln/>
        </p:spPr>
      </p:sp>
      <p:sp>
        <p:nvSpPr>
          <p:cNvPr id="28" name="Text 26"/>
          <p:cNvSpPr/>
          <p:nvPr/>
        </p:nvSpPr>
        <p:spPr>
          <a:xfrm>
            <a:off x="8229600" y="4389120"/>
            <a:ext cx="3017520" cy="640080"/>
          </a:xfrm>
          <a:prstGeom prst="rect">
            <a:avLst/>
          </a:prstGeom>
          <a:noFill/>
          <a:ln/>
        </p:spPr>
        <p:txBody>
          <a:bodyPr wrap="square" lIns="0" tIns="0" rIns="0" bIns="0" rtlCol="0" anchor="ctr"/>
          <a:lstStyle/>
          <a:p>
            <a:pPr indent="0" marL="0">
              <a:buNone/>
            </a:pPr>
            <a:r>
              <a:rPr lang="en-US" sz="1550" b="1" dirty="0">
                <a:solidFill>
                  <a:srgbClr val="21295C"/>
                </a:solidFill>
                <a:latin typeface="Calibri" pitchFamily="34" charset="0"/>
                <a:ea typeface="Calibri" pitchFamily="34" charset="-122"/>
                <a:cs typeface="Calibri" pitchFamily="34" charset="-120"/>
              </a:rPr>
              <a:t>busy handshake</a:t>
            </a:r>
            <a:endParaRPr lang="en-US" sz="1550" dirty="0"/>
          </a:p>
        </p:txBody>
      </p:sp>
      <p:sp>
        <p:nvSpPr>
          <p:cNvPr id="29" name="Text 27"/>
          <p:cNvSpPr/>
          <p:nvPr/>
        </p:nvSpPr>
        <p:spPr>
          <a:xfrm>
            <a:off x="8229600" y="5029200"/>
            <a:ext cx="3017520" cy="868680"/>
          </a:xfrm>
          <a:prstGeom prst="rect">
            <a:avLst/>
          </a:prstGeom>
          <a:noFill/>
          <a:ln/>
        </p:spPr>
        <p:txBody>
          <a:bodyPr wrap="square" lIns="0" tIns="0" rIns="0" bIns="0" rtlCol="0" anchor="ctr"/>
          <a:lstStyle/>
          <a:p>
            <a:pPr indent="0" marL="0">
              <a:lnSpc>
                <a:spcPct val="112000"/>
              </a:lnSpc>
              <a:buNone/>
            </a:pPr>
            <a:r>
              <a:rPr lang="en-US" sz="1250" dirty="0">
                <a:solidFill>
                  <a:srgbClr val="5B6B7B"/>
                </a:solidFill>
                <a:latin typeface="Calibri" pitchFamily="34" charset="0"/>
                <a:ea typeface="Calibri" pitchFamily="34" charset="-122"/>
                <a:cs typeface="Calibri" pitchFamily="34" charset="-120"/>
              </a:rPr>
              <a:t>Tells the source to pause while the FSM is mid-packet — simple flow control.</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VERIFICATION</a:t>
            </a:r>
            <a:endParaRPr lang="en-US" sz="1200" dirty="0"/>
          </a:p>
        </p:txBody>
      </p:sp>
      <p:sp>
        <p:nvSpPr>
          <p:cNvPr id="3" name="Text 1"/>
          <p:cNvSpPr/>
          <p:nvPr/>
        </p:nvSpPr>
        <p:spPr>
          <a:xfrm>
            <a:off x="548640" y="640080"/>
            <a:ext cx="1042416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How I tested it in Verilog</a:t>
            </a:r>
            <a:endParaRPr lang="en-US" sz="3000" dirty="0"/>
          </a:p>
        </p:txBody>
      </p:sp>
      <p:sp>
        <p:nvSpPr>
          <p:cNvPr id="4" name="Shape 2"/>
          <p:cNvSpPr/>
          <p:nvPr/>
        </p:nvSpPr>
        <p:spPr>
          <a:xfrm>
            <a:off x="11292840" y="457200"/>
            <a:ext cx="502920" cy="502920"/>
          </a:xfrm>
          <a:prstGeom prst="ellipse">
            <a:avLst/>
          </a:prstGeom>
          <a:solidFill>
            <a:srgbClr val="21295C"/>
          </a:solidFill>
          <a:ln/>
        </p:spPr>
      </p:sp>
      <p:sp>
        <p:nvSpPr>
          <p:cNvPr id="5" name="Text 3"/>
          <p:cNvSpPr/>
          <p:nvPr/>
        </p:nvSpPr>
        <p:spPr>
          <a:xfrm>
            <a:off x="112928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6" name="Text 4"/>
          <p:cNvSpPr/>
          <p:nvPr/>
        </p:nvSpPr>
        <p:spPr>
          <a:xfrm>
            <a:off x="548640" y="1463040"/>
            <a:ext cx="10972800" cy="457200"/>
          </a:xfrm>
          <a:prstGeom prst="rect">
            <a:avLst/>
          </a:prstGeom>
          <a:noFill/>
          <a:ln/>
        </p:spPr>
        <p:txBody>
          <a:bodyPr wrap="square" lIns="0" tIns="0" rIns="0" bIns="0" rtlCol="0" anchor="ctr"/>
          <a:lstStyle/>
          <a:p>
            <a:pPr indent="0" marL="0">
              <a:buNone/>
            </a:pPr>
            <a:r>
              <a:rPr lang="en-US" sz="1500" dirty="0">
                <a:solidFill>
                  <a:srgbClr val="5B6B7B"/>
                </a:solidFill>
                <a:latin typeface="Calibri" pitchFamily="34" charset="0"/>
                <a:ea typeface="Calibri" pitchFamily="34" charset="-122"/>
                <a:cs typeface="Calibri" pitchFamily="34" charset="-120"/>
              </a:rPr>
              <a:t>Every module has its own testbench (tb/), plus a top-level testbench that drives a full 14-byte packet end-to-end.</a:t>
            </a:r>
            <a:endParaRPr lang="en-US" sz="1500" dirty="0"/>
          </a:p>
        </p:txBody>
      </p:sp>
      <p:sp>
        <p:nvSpPr>
          <p:cNvPr id="7" name="Shape 5"/>
          <p:cNvSpPr/>
          <p:nvPr/>
        </p:nvSpPr>
        <p:spPr>
          <a:xfrm>
            <a:off x="548640" y="2057400"/>
            <a:ext cx="3520440" cy="1874520"/>
          </a:xfrm>
          <a:prstGeom prst="roundRect">
            <a:avLst>
              <a:gd name="adj" fmla="val 4390"/>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8" name="Shape 6"/>
          <p:cNvSpPr/>
          <p:nvPr/>
        </p:nvSpPr>
        <p:spPr>
          <a:xfrm>
            <a:off x="804672" y="2313432"/>
            <a:ext cx="457200" cy="457200"/>
          </a:xfrm>
          <a:prstGeom prst="ellipse">
            <a:avLst/>
          </a:prstGeom>
          <a:solidFill>
            <a:srgbClr val="1C7293"/>
          </a:solidFill>
          <a:ln/>
        </p:spPr>
      </p:sp>
      <p:sp>
        <p:nvSpPr>
          <p:cNvPr id="9" name="Text 7"/>
          <p:cNvSpPr/>
          <p:nvPr/>
        </p:nvSpPr>
        <p:spPr>
          <a:xfrm>
            <a:off x="804672" y="231343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1371600" y="2331720"/>
            <a:ext cx="2560320" cy="45720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Reusable tasks</a:t>
            </a:r>
            <a:endParaRPr lang="en-US" sz="1400" dirty="0"/>
          </a:p>
        </p:txBody>
      </p:sp>
      <p:sp>
        <p:nvSpPr>
          <p:cNvPr id="11" name="Text 9"/>
          <p:cNvSpPr/>
          <p:nvPr/>
        </p:nvSpPr>
        <p:spPr>
          <a:xfrm>
            <a:off x="822960" y="2880360"/>
            <a:ext cx="3017520" cy="960120"/>
          </a:xfrm>
          <a:prstGeom prst="rect">
            <a:avLst/>
          </a:prstGeom>
          <a:noFill/>
          <a:ln/>
        </p:spPr>
        <p:txBody>
          <a:bodyPr wrap="square" lIns="0" tIns="0" rIns="0" bIns="0" rtlCol="0" anchor="ctr"/>
          <a:lstStyle/>
          <a:p>
            <a:pPr indent="0" marL="0">
              <a:lnSpc>
                <a:spcPct val="112000"/>
              </a:lnSpc>
              <a:buNone/>
            </a:pPr>
            <a:r>
              <a:rPr lang="en-US" sz="1250" dirty="0">
                <a:solidFill>
                  <a:srgbClr val="5B6B7B"/>
                </a:solidFill>
                <a:latin typeface="Calibri" pitchFamily="34" charset="0"/>
                <a:ea typeface="Calibri" pitchFamily="34" charset="-122"/>
                <a:cs typeface="Calibri" pitchFamily="34" charset="-120"/>
              </a:rPr>
              <a:t>initialise, rst_dut and stimulus tasks keep each testbench clean and readable.</a:t>
            </a:r>
            <a:endParaRPr lang="en-US" sz="1250" dirty="0"/>
          </a:p>
        </p:txBody>
      </p:sp>
      <p:sp>
        <p:nvSpPr>
          <p:cNvPr id="12" name="Shape 10"/>
          <p:cNvSpPr/>
          <p:nvPr/>
        </p:nvSpPr>
        <p:spPr>
          <a:xfrm>
            <a:off x="4251960" y="2057400"/>
            <a:ext cx="3520440" cy="1874520"/>
          </a:xfrm>
          <a:prstGeom prst="roundRect">
            <a:avLst>
              <a:gd name="adj" fmla="val 4390"/>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13" name="Shape 11"/>
          <p:cNvSpPr/>
          <p:nvPr/>
        </p:nvSpPr>
        <p:spPr>
          <a:xfrm>
            <a:off x="4507992" y="2313432"/>
            <a:ext cx="457200" cy="457200"/>
          </a:xfrm>
          <a:prstGeom prst="ellipse">
            <a:avLst/>
          </a:prstGeom>
          <a:solidFill>
            <a:srgbClr val="1C7293"/>
          </a:solidFill>
          <a:ln/>
        </p:spPr>
      </p:sp>
      <p:sp>
        <p:nvSpPr>
          <p:cNvPr id="14" name="Text 12"/>
          <p:cNvSpPr/>
          <p:nvPr/>
        </p:nvSpPr>
        <p:spPr>
          <a:xfrm>
            <a:off x="4507992" y="231343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5074920" y="2331720"/>
            <a:ext cx="2560320" cy="45720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Scenario-driven</a:t>
            </a:r>
            <a:endParaRPr lang="en-US" sz="1400" dirty="0"/>
          </a:p>
        </p:txBody>
      </p:sp>
      <p:sp>
        <p:nvSpPr>
          <p:cNvPr id="16" name="Text 14"/>
          <p:cNvSpPr/>
          <p:nvPr/>
        </p:nvSpPr>
        <p:spPr>
          <a:xfrm>
            <a:off x="4526280" y="2880360"/>
            <a:ext cx="3017520" cy="960120"/>
          </a:xfrm>
          <a:prstGeom prst="rect">
            <a:avLst/>
          </a:prstGeom>
          <a:noFill/>
          <a:ln/>
        </p:spPr>
        <p:txBody>
          <a:bodyPr wrap="square" lIns="0" tIns="0" rIns="0" bIns="0" rtlCol="0" anchor="ctr"/>
          <a:lstStyle/>
          <a:p>
            <a:pPr indent="0" marL="0">
              <a:lnSpc>
                <a:spcPct val="112000"/>
              </a:lnSpc>
              <a:buNone/>
            </a:pPr>
            <a:r>
              <a:rPr lang="en-US" sz="1250" dirty="0">
                <a:solidFill>
                  <a:srgbClr val="5B6B7B"/>
                </a:solidFill>
                <a:latin typeface="Calibri" pitchFamily="34" charset="0"/>
                <a:ea typeface="Calibri" pitchFamily="34" charset="-122"/>
                <a:cs typeface="Calibri" pitchFamily="34" charset="-120"/>
              </a:rPr>
              <a:t>FSM tb walks named scenarios (s1, s2…) that hit every state path — normal, FIFO-full, wait-till-empty.</a:t>
            </a:r>
            <a:endParaRPr lang="en-US" sz="1250" dirty="0"/>
          </a:p>
        </p:txBody>
      </p:sp>
      <p:sp>
        <p:nvSpPr>
          <p:cNvPr id="17" name="Shape 15"/>
          <p:cNvSpPr/>
          <p:nvPr/>
        </p:nvSpPr>
        <p:spPr>
          <a:xfrm>
            <a:off x="7955280" y="2057400"/>
            <a:ext cx="3520440" cy="1874520"/>
          </a:xfrm>
          <a:prstGeom prst="roundRect">
            <a:avLst>
              <a:gd name="adj" fmla="val 4390"/>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18" name="Shape 16"/>
          <p:cNvSpPr/>
          <p:nvPr/>
        </p:nvSpPr>
        <p:spPr>
          <a:xfrm>
            <a:off x="8211312" y="2313432"/>
            <a:ext cx="457200" cy="457200"/>
          </a:xfrm>
          <a:prstGeom prst="ellipse">
            <a:avLst/>
          </a:prstGeom>
          <a:solidFill>
            <a:srgbClr val="1C7293"/>
          </a:solidFill>
          <a:ln/>
        </p:spPr>
      </p:sp>
      <p:sp>
        <p:nvSpPr>
          <p:cNvPr id="19" name="Text 17"/>
          <p:cNvSpPr/>
          <p:nvPr/>
        </p:nvSpPr>
        <p:spPr>
          <a:xfrm>
            <a:off x="8211312" y="231343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8778240" y="2331720"/>
            <a:ext cx="2560320" cy="45720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Directed packets</a:t>
            </a:r>
            <a:endParaRPr lang="en-US" sz="1400" dirty="0"/>
          </a:p>
        </p:txBody>
      </p:sp>
      <p:sp>
        <p:nvSpPr>
          <p:cNvPr id="21" name="Text 19"/>
          <p:cNvSpPr/>
          <p:nvPr/>
        </p:nvSpPr>
        <p:spPr>
          <a:xfrm>
            <a:off x="8229600" y="2880360"/>
            <a:ext cx="3017520" cy="960120"/>
          </a:xfrm>
          <a:prstGeom prst="rect">
            <a:avLst/>
          </a:prstGeom>
          <a:noFill/>
          <a:ln/>
        </p:spPr>
        <p:txBody>
          <a:bodyPr wrap="square" lIns="0" tIns="0" rIns="0" bIns="0" rtlCol="0" anchor="ctr"/>
          <a:lstStyle/>
          <a:p>
            <a:pPr indent="0" marL="0">
              <a:lnSpc>
                <a:spcPct val="112000"/>
              </a:lnSpc>
              <a:buNone/>
            </a:pPr>
            <a:r>
              <a:rPr lang="en-US" sz="1250" dirty="0">
                <a:solidFill>
                  <a:srgbClr val="5B6B7B"/>
                </a:solidFill>
                <a:latin typeface="Calibri" pitchFamily="34" charset="0"/>
                <a:ea typeface="Calibri" pitchFamily="34" charset="-122"/>
                <a:cs typeface="Calibri" pitchFamily="34" charset="-120"/>
              </a:rPr>
              <a:t>Top tb builds a header + payload + parity stream with a for-loop and pulses read_enb to drain the FIFO.</a:t>
            </a:r>
            <a:endParaRPr lang="en-US" sz="1250" dirty="0"/>
          </a:p>
        </p:txBody>
      </p:sp>
      <p:sp>
        <p:nvSpPr>
          <p:cNvPr id="22" name="Shape 20"/>
          <p:cNvSpPr/>
          <p:nvPr/>
        </p:nvSpPr>
        <p:spPr>
          <a:xfrm>
            <a:off x="548640" y="4160520"/>
            <a:ext cx="3520440" cy="1874520"/>
          </a:xfrm>
          <a:prstGeom prst="roundRect">
            <a:avLst>
              <a:gd name="adj" fmla="val 4390"/>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23" name="Shape 21"/>
          <p:cNvSpPr/>
          <p:nvPr/>
        </p:nvSpPr>
        <p:spPr>
          <a:xfrm>
            <a:off x="804672" y="4416552"/>
            <a:ext cx="457200" cy="457200"/>
          </a:xfrm>
          <a:prstGeom prst="ellipse">
            <a:avLst/>
          </a:prstGeom>
          <a:solidFill>
            <a:srgbClr val="1C7293"/>
          </a:solidFill>
          <a:ln/>
        </p:spPr>
      </p:sp>
      <p:sp>
        <p:nvSpPr>
          <p:cNvPr id="24" name="Text 22"/>
          <p:cNvSpPr/>
          <p:nvPr/>
        </p:nvSpPr>
        <p:spPr>
          <a:xfrm>
            <a:off x="804672" y="44165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1371600" y="4434840"/>
            <a:ext cx="2560320" cy="45720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Waveform check</a:t>
            </a:r>
            <a:endParaRPr lang="en-US" sz="1400" dirty="0"/>
          </a:p>
        </p:txBody>
      </p:sp>
      <p:sp>
        <p:nvSpPr>
          <p:cNvPr id="26" name="Text 24"/>
          <p:cNvSpPr/>
          <p:nvPr/>
        </p:nvSpPr>
        <p:spPr>
          <a:xfrm>
            <a:off x="822960" y="4983480"/>
            <a:ext cx="3017520" cy="960120"/>
          </a:xfrm>
          <a:prstGeom prst="rect">
            <a:avLst/>
          </a:prstGeom>
          <a:noFill/>
          <a:ln/>
        </p:spPr>
        <p:txBody>
          <a:bodyPr wrap="square" lIns="0" tIns="0" rIns="0" bIns="0" rtlCol="0" anchor="ctr"/>
          <a:lstStyle/>
          <a:p>
            <a:pPr indent="0" marL="0">
              <a:lnSpc>
                <a:spcPct val="112000"/>
              </a:lnSpc>
              <a:buNone/>
            </a:pPr>
            <a:r>
              <a:rPr lang="en-US" sz="1250" dirty="0">
                <a:solidFill>
                  <a:srgbClr val="5B6B7B"/>
                </a:solidFill>
                <a:latin typeface="Calibri" pitchFamily="34" charset="0"/>
                <a:ea typeface="Calibri" pitchFamily="34" charset="-122"/>
                <a:cs typeface="Calibri" pitchFamily="34" charset="-120"/>
              </a:rPr>
              <a:t>$dumpfile / $dumpvars generate .vcd files (viewed in GTKWave) to confirm signals cycle-by-cycle.</a:t>
            </a:r>
            <a:endParaRPr lang="en-US" sz="1250" dirty="0"/>
          </a:p>
        </p:txBody>
      </p:sp>
      <p:sp>
        <p:nvSpPr>
          <p:cNvPr id="27" name="Shape 25"/>
          <p:cNvSpPr/>
          <p:nvPr/>
        </p:nvSpPr>
        <p:spPr>
          <a:xfrm>
            <a:off x="4251960" y="4160520"/>
            <a:ext cx="3520440" cy="1874520"/>
          </a:xfrm>
          <a:prstGeom prst="roundRect">
            <a:avLst>
              <a:gd name="adj" fmla="val 4390"/>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28" name="Shape 26"/>
          <p:cNvSpPr/>
          <p:nvPr/>
        </p:nvSpPr>
        <p:spPr>
          <a:xfrm>
            <a:off x="4507992" y="4416552"/>
            <a:ext cx="457200" cy="457200"/>
          </a:xfrm>
          <a:prstGeom prst="ellipse">
            <a:avLst/>
          </a:prstGeom>
          <a:solidFill>
            <a:srgbClr val="1C7293"/>
          </a:solidFill>
          <a:ln/>
        </p:spPr>
      </p:sp>
      <p:sp>
        <p:nvSpPr>
          <p:cNvPr id="29" name="Text 27"/>
          <p:cNvSpPr/>
          <p:nvPr/>
        </p:nvSpPr>
        <p:spPr>
          <a:xfrm>
            <a:off x="4507992" y="44165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0" name="Text 28"/>
          <p:cNvSpPr/>
          <p:nvPr/>
        </p:nvSpPr>
        <p:spPr>
          <a:xfrm>
            <a:off x="5074920" y="4434840"/>
            <a:ext cx="2560320" cy="45720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Per-block sign-off</a:t>
            </a:r>
            <a:endParaRPr lang="en-US" sz="1400" dirty="0"/>
          </a:p>
        </p:txBody>
      </p:sp>
      <p:sp>
        <p:nvSpPr>
          <p:cNvPr id="31" name="Text 29"/>
          <p:cNvSpPr/>
          <p:nvPr/>
        </p:nvSpPr>
        <p:spPr>
          <a:xfrm>
            <a:off x="4526280" y="4983480"/>
            <a:ext cx="3017520" cy="960120"/>
          </a:xfrm>
          <a:prstGeom prst="rect">
            <a:avLst/>
          </a:prstGeom>
          <a:noFill/>
          <a:ln/>
        </p:spPr>
        <p:txBody>
          <a:bodyPr wrap="square" lIns="0" tIns="0" rIns="0" bIns="0" rtlCol="0" anchor="ctr"/>
          <a:lstStyle/>
          <a:p>
            <a:pPr indent="0" marL="0">
              <a:lnSpc>
                <a:spcPct val="112000"/>
              </a:lnSpc>
              <a:buNone/>
            </a:pPr>
            <a:r>
              <a:rPr lang="en-US" sz="1250" dirty="0">
                <a:solidFill>
                  <a:srgbClr val="5B6B7B"/>
                </a:solidFill>
                <a:latin typeface="Calibri" pitchFamily="34" charset="0"/>
                <a:ea typeface="Calibri" pitchFamily="34" charset="-122"/>
                <a:cs typeface="Calibri" pitchFamily="34" charset="-120"/>
              </a:rPr>
              <a:t>FIFO, register, sync and FSM each verified in isolation before integrating in router_top.</a:t>
            </a:r>
            <a:endParaRPr lang="en-US" sz="1250" dirty="0"/>
          </a:p>
        </p:txBody>
      </p:sp>
      <p:sp>
        <p:nvSpPr>
          <p:cNvPr id="32" name="Shape 30"/>
          <p:cNvSpPr/>
          <p:nvPr/>
        </p:nvSpPr>
        <p:spPr>
          <a:xfrm>
            <a:off x="7955280" y="4160520"/>
            <a:ext cx="3520440" cy="1874520"/>
          </a:xfrm>
          <a:prstGeom prst="roundRect">
            <a:avLst>
              <a:gd name="adj" fmla="val 4390"/>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33" name="Shape 31"/>
          <p:cNvSpPr/>
          <p:nvPr/>
        </p:nvSpPr>
        <p:spPr>
          <a:xfrm>
            <a:off x="8211312" y="4416552"/>
            <a:ext cx="457200" cy="457200"/>
          </a:xfrm>
          <a:prstGeom prst="ellipse">
            <a:avLst/>
          </a:prstGeom>
          <a:solidFill>
            <a:srgbClr val="1C7293"/>
          </a:solidFill>
          <a:ln/>
        </p:spPr>
      </p:sp>
      <p:sp>
        <p:nvSpPr>
          <p:cNvPr id="34" name="Text 32"/>
          <p:cNvSpPr/>
          <p:nvPr/>
        </p:nvSpPr>
        <p:spPr>
          <a:xfrm>
            <a:off x="8211312" y="44165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5" name="Text 33"/>
          <p:cNvSpPr/>
          <p:nvPr/>
        </p:nvSpPr>
        <p:spPr>
          <a:xfrm>
            <a:off x="8778240" y="4434840"/>
            <a:ext cx="2560320" cy="45720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Parity both ways</a:t>
            </a:r>
            <a:endParaRPr lang="en-US" sz="1400" dirty="0"/>
          </a:p>
        </p:txBody>
      </p:sp>
      <p:sp>
        <p:nvSpPr>
          <p:cNvPr id="36" name="Text 34"/>
          <p:cNvSpPr/>
          <p:nvPr/>
        </p:nvSpPr>
        <p:spPr>
          <a:xfrm>
            <a:off x="8229600" y="4983480"/>
            <a:ext cx="3017520" cy="960120"/>
          </a:xfrm>
          <a:prstGeom prst="rect">
            <a:avLst/>
          </a:prstGeom>
          <a:noFill/>
          <a:ln/>
        </p:spPr>
        <p:txBody>
          <a:bodyPr wrap="square" lIns="0" tIns="0" rIns="0" bIns="0" rtlCol="0" anchor="ctr"/>
          <a:lstStyle/>
          <a:p>
            <a:pPr indent="0" marL="0">
              <a:lnSpc>
                <a:spcPct val="112000"/>
              </a:lnSpc>
              <a:buNone/>
            </a:pPr>
            <a:r>
              <a:rPr lang="en-US" sz="1250" dirty="0">
                <a:solidFill>
                  <a:srgbClr val="5B6B7B"/>
                </a:solidFill>
                <a:latin typeface="Calibri" pitchFamily="34" charset="0"/>
                <a:ea typeface="Calibri" pitchFamily="34" charset="-122"/>
                <a:cs typeface="Calibri" pitchFamily="34" charset="-120"/>
              </a:rPr>
              <a:t>Tested clean packets (err=0) and corrupted parity (err=1) to prove error detection works.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6F9"/>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REAL ENGINEERING</a:t>
            </a:r>
            <a:endParaRPr lang="en-US" sz="1200" dirty="0"/>
          </a:p>
        </p:txBody>
      </p:sp>
      <p:sp>
        <p:nvSpPr>
          <p:cNvPr id="3" name="Text 1"/>
          <p:cNvSpPr/>
          <p:nvPr/>
        </p:nvSpPr>
        <p:spPr>
          <a:xfrm>
            <a:off x="548640" y="640080"/>
            <a:ext cx="10424160" cy="64008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Problems I hit &amp; how I solved them</a:t>
            </a:r>
            <a:endParaRPr lang="en-US" sz="3000" dirty="0"/>
          </a:p>
        </p:txBody>
      </p:sp>
      <p:sp>
        <p:nvSpPr>
          <p:cNvPr id="4" name="Shape 2"/>
          <p:cNvSpPr/>
          <p:nvPr/>
        </p:nvSpPr>
        <p:spPr>
          <a:xfrm>
            <a:off x="11292840" y="457200"/>
            <a:ext cx="502920" cy="502920"/>
          </a:xfrm>
          <a:prstGeom prst="ellipse">
            <a:avLst/>
          </a:prstGeom>
          <a:solidFill>
            <a:srgbClr val="21295C"/>
          </a:solidFill>
          <a:ln/>
        </p:spPr>
      </p:sp>
      <p:sp>
        <p:nvSpPr>
          <p:cNvPr id="5" name="Text 3"/>
          <p:cNvSpPr/>
          <p:nvPr/>
        </p:nvSpPr>
        <p:spPr>
          <a:xfrm>
            <a:off x="112928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6" name="Shape 4"/>
          <p:cNvSpPr/>
          <p:nvPr/>
        </p:nvSpPr>
        <p:spPr>
          <a:xfrm>
            <a:off x="548640" y="1691640"/>
            <a:ext cx="11064240" cy="859536"/>
          </a:xfrm>
          <a:prstGeom prst="roundRect">
            <a:avLst>
              <a:gd name="adj" fmla="val 9574"/>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7" name="Shape 5"/>
          <p:cNvSpPr/>
          <p:nvPr/>
        </p:nvSpPr>
        <p:spPr>
          <a:xfrm>
            <a:off x="548640" y="1691640"/>
            <a:ext cx="128016" cy="859536"/>
          </a:xfrm>
          <a:prstGeom prst="roundRect">
            <a:avLst/>
          </a:prstGeom>
          <a:solidFill>
            <a:srgbClr val="B85042"/>
          </a:solidFill>
          <a:ln/>
        </p:spPr>
      </p:sp>
      <p:sp>
        <p:nvSpPr>
          <p:cNvPr id="8" name="Text 6"/>
          <p:cNvSpPr/>
          <p:nvPr/>
        </p:nvSpPr>
        <p:spPr>
          <a:xfrm>
            <a:off x="822960" y="1783080"/>
            <a:ext cx="10515600" cy="365760"/>
          </a:xfrm>
          <a:prstGeom prst="rect">
            <a:avLst/>
          </a:prstGeom>
          <a:noFill/>
          <a:ln/>
        </p:spPr>
        <p:txBody>
          <a:bodyPr wrap="square" lIns="0" tIns="0" rIns="0" bIns="0" rtlCol="0" anchor="ctr"/>
          <a:lstStyle/>
          <a:p>
            <a:pPr indent="0" marL="0">
              <a:buNone/>
            </a:pPr>
            <a:r>
              <a:rPr lang="en-US" sz="1350" b="1" dirty="0">
                <a:solidFill>
                  <a:srgbClr val="B85042"/>
                </a:solidFill>
                <a:latin typeface="Calibri" pitchFamily="34" charset="0"/>
                <a:ea typeface="Calibri" pitchFamily="34" charset="-122"/>
                <a:cs typeface="Calibri" pitchFamily="34" charset="-120"/>
              </a:rPr>
              <a:t>Problem:  </a:t>
            </a:r>
            <a:pPr indent="0" marL="0">
              <a:buNone/>
            </a:pPr>
            <a:r>
              <a:rPr lang="en-US" sz="1350" b="1" dirty="0">
                <a:solidFill>
                  <a:srgbClr val="21295C"/>
                </a:solidFill>
                <a:latin typeface="Calibri" pitchFamily="34" charset="0"/>
                <a:ea typeface="Calibri" pitchFamily="34" charset="-122"/>
                <a:cs typeface="Calibri" pitchFamily="34" charset="-120"/>
              </a:rPr>
              <a:t>Data lost when FIFO filled mid-packet</a:t>
            </a:r>
            <a:endParaRPr lang="en-US" sz="1350" dirty="0"/>
          </a:p>
        </p:txBody>
      </p:sp>
      <p:sp>
        <p:nvSpPr>
          <p:cNvPr id="9" name="Text 7"/>
          <p:cNvSpPr/>
          <p:nvPr/>
        </p:nvSpPr>
        <p:spPr>
          <a:xfrm>
            <a:off x="822960" y="2121408"/>
            <a:ext cx="10607040" cy="384048"/>
          </a:xfrm>
          <a:prstGeom prst="rect">
            <a:avLst/>
          </a:prstGeom>
          <a:noFill/>
          <a:ln/>
        </p:spPr>
        <p:txBody>
          <a:bodyPr wrap="square" lIns="0" tIns="0" rIns="0" bIns="0" rtlCol="0" anchor="ctr"/>
          <a:lstStyle/>
          <a:p>
            <a:pPr indent="0" marL="0">
              <a:buNone/>
            </a:pPr>
            <a:r>
              <a:rPr lang="en-US" sz="1250" b="1" dirty="0">
                <a:solidFill>
                  <a:srgbClr val="02C39A"/>
                </a:solidFill>
                <a:latin typeface="Calibri" pitchFamily="34" charset="0"/>
                <a:ea typeface="Calibri" pitchFamily="34" charset="-122"/>
                <a:cs typeface="Calibri" pitchFamily="34" charset="-120"/>
              </a:rPr>
              <a:t>Fix:  </a:t>
            </a:r>
            <a:pPr indent="0" marL="0">
              <a:buNone/>
            </a:pPr>
            <a:r>
              <a:rPr lang="en-US" sz="1250" dirty="0">
                <a:solidFill>
                  <a:srgbClr val="5B6B7B"/>
                </a:solidFill>
                <a:latin typeface="Calibri" pitchFamily="34" charset="0"/>
                <a:ea typeface="Calibri" pitchFamily="34" charset="-122"/>
                <a:cs typeface="Calibri" pitchFamily="34" charset="-120"/>
              </a:rPr>
              <a:t>Added the FIFO_FULL / LOAD_AFTER_FULL states and a full_state_byte register that parks the stalled byte and re-injects it when space opens up.</a:t>
            </a:r>
            <a:endParaRPr lang="en-US" sz="1250" dirty="0"/>
          </a:p>
        </p:txBody>
      </p:sp>
      <p:sp>
        <p:nvSpPr>
          <p:cNvPr id="10" name="Shape 8"/>
          <p:cNvSpPr/>
          <p:nvPr/>
        </p:nvSpPr>
        <p:spPr>
          <a:xfrm>
            <a:off x="548640" y="2642616"/>
            <a:ext cx="11064240" cy="859536"/>
          </a:xfrm>
          <a:prstGeom prst="roundRect">
            <a:avLst>
              <a:gd name="adj" fmla="val 9574"/>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11" name="Shape 9"/>
          <p:cNvSpPr/>
          <p:nvPr/>
        </p:nvSpPr>
        <p:spPr>
          <a:xfrm>
            <a:off x="548640" y="2642616"/>
            <a:ext cx="128016" cy="859536"/>
          </a:xfrm>
          <a:prstGeom prst="roundRect">
            <a:avLst/>
          </a:prstGeom>
          <a:solidFill>
            <a:srgbClr val="B85042"/>
          </a:solidFill>
          <a:ln/>
        </p:spPr>
      </p:sp>
      <p:sp>
        <p:nvSpPr>
          <p:cNvPr id="12" name="Text 10"/>
          <p:cNvSpPr/>
          <p:nvPr/>
        </p:nvSpPr>
        <p:spPr>
          <a:xfrm>
            <a:off x="822960" y="2734056"/>
            <a:ext cx="10515600" cy="365760"/>
          </a:xfrm>
          <a:prstGeom prst="rect">
            <a:avLst/>
          </a:prstGeom>
          <a:noFill/>
          <a:ln/>
        </p:spPr>
        <p:txBody>
          <a:bodyPr wrap="square" lIns="0" tIns="0" rIns="0" bIns="0" rtlCol="0" anchor="ctr"/>
          <a:lstStyle/>
          <a:p>
            <a:pPr indent="0" marL="0">
              <a:buNone/>
            </a:pPr>
            <a:r>
              <a:rPr lang="en-US" sz="1350" b="1" dirty="0">
                <a:solidFill>
                  <a:srgbClr val="B85042"/>
                </a:solidFill>
                <a:latin typeface="Calibri" pitchFamily="34" charset="0"/>
                <a:ea typeface="Calibri" pitchFamily="34" charset="-122"/>
                <a:cs typeface="Calibri" pitchFamily="34" charset="-120"/>
              </a:rPr>
              <a:t>Problem:  </a:t>
            </a:r>
            <a:pPr indent="0" marL="0">
              <a:buNone/>
            </a:pPr>
            <a:r>
              <a:rPr lang="en-US" sz="1350" b="1" dirty="0">
                <a:solidFill>
                  <a:srgbClr val="21295C"/>
                </a:solidFill>
                <a:latin typeface="Calibri" pitchFamily="34" charset="0"/>
                <a:ea typeface="Calibri" pitchFamily="34" charset="-122"/>
                <a:cs typeface="Calibri" pitchFamily="34" charset="-120"/>
              </a:rPr>
              <a:t>Two packets landing in one FIFO</a:t>
            </a:r>
            <a:endParaRPr lang="en-US" sz="1350" dirty="0"/>
          </a:p>
        </p:txBody>
      </p:sp>
      <p:sp>
        <p:nvSpPr>
          <p:cNvPr id="13" name="Text 11"/>
          <p:cNvSpPr/>
          <p:nvPr/>
        </p:nvSpPr>
        <p:spPr>
          <a:xfrm>
            <a:off x="822960" y="3072384"/>
            <a:ext cx="10607040" cy="384048"/>
          </a:xfrm>
          <a:prstGeom prst="rect">
            <a:avLst/>
          </a:prstGeom>
          <a:noFill/>
          <a:ln/>
        </p:spPr>
        <p:txBody>
          <a:bodyPr wrap="square" lIns="0" tIns="0" rIns="0" bIns="0" rtlCol="0" anchor="ctr"/>
          <a:lstStyle/>
          <a:p>
            <a:pPr indent="0" marL="0">
              <a:buNone/>
            </a:pPr>
            <a:r>
              <a:rPr lang="en-US" sz="1250" b="1" dirty="0">
                <a:solidFill>
                  <a:srgbClr val="02C39A"/>
                </a:solidFill>
                <a:latin typeface="Calibri" pitchFamily="34" charset="0"/>
                <a:ea typeface="Calibri" pitchFamily="34" charset="-122"/>
                <a:cs typeface="Calibri" pitchFamily="34" charset="-120"/>
              </a:rPr>
              <a:t>Fix:  </a:t>
            </a:r>
            <a:pPr indent="0" marL="0">
              <a:buNone/>
            </a:pPr>
            <a:r>
              <a:rPr lang="en-US" sz="1250" dirty="0">
                <a:solidFill>
                  <a:srgbClr val="5B6B7B"/>
                </a:solidFill>
                <a:latin typeface="Calibri" pitchFamily="34" charset="0"/>
                <a:ea typeface="Calibri" pitchFamily="34" charset="-122"/>
                <a:cs typeface="Calibri" pitchFamily="34" charset="-120"/>
              </a:rPr>
              <a:t>Introduced WAIT_TILL_EMPTY: the FSM holds until the target channel is fully drained before it starts a new packet.</a:t>
            </a:r>
            <a:endParaRPr lang="en-US" sz="1250" dirty="0"/>
          </a:p>
        </p:txBody>
      </p:sp>
      <p:sp>
        <p:nvSpPr>
          <p:cNvPr id="14" name="Shape 12"/>
          <p:cNvSpPr/>
          <p:nvPr/>
        </p:nvSpPr>
        <p:spPr>
          <a:xfrm>
            <a:off x="548640" y="3593592"/>
            <a:ext cx="11064240" cy="859536"/>
          </a:xfrm>
          <a:prstGeom prst="roundRect">
            <a:avLst>
              <a:gd name="adj" fmla="val 9574"/>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15" name="Shape 13"/>
          <p:cNvSpPr/>
          <p:nvPr/>
        </p:nvSpPr>
        <p:spPr>
          <a:xfrm>
            <a:off x="548640" y="3593592"/>
            <a:ext cx="128016" cy="859536"/>
          </a:xfrm>
          <a:prstGeom prst="roundRect">
            <a:avLst/>
          </a:prstGeom>
          <a:solidFill>
            <a:srgbClr val="B85042"/>
          </a:solidFill>
          <a:ln/>
        </p:spPr>
      </p:sp>
      <p:sp>
        <p:nvSpPr>
          <p:cNvPr id="16" name="Text 14"/>
          <p:cNvSpPr/>
          <p:nvPr/>
        </p:nvSpPr>
        <p:spPr>
          <a:xfrm>
            <a:off x="822960" y="3685032"/>
            <a:ext cx="10515600" cy="365760"/>
          </a:xfrm>
          <a:prstGeom prst="rect">
            <a:avLst/>
          </a:prstGeom>
          <a:noFill/>
          <a:ln/>
        </p:spPr>
        <p:txBody>
          <a:bodyPr wrap="square" lIns="0" tIns="0" rIns="0" bIns="0" rtlCol="0" anchor="ctr"/>
          <a:lstStyle/>
          <a:p>
            <a:pPr indent="0" marL="0">
              <a:buNone/>
            </a:pPr>
            <a:r>
              <a:rPr lang="en-US" sz="1350" b="1" dirty="0">
                <a:solidFill>
                  <a:srgbClr val="B85042"/>
                </a:solidFill>
                <a:latin typeface="Calibri" pitchFamily="34" charset="0"/>
                <a:ea typeface="Calibri" pitchFamily="34" charset="-122"/>
                <a:cs typeface="Calibri" pitchFamily="34" charset="-120"/>
              </a:rPr>
              <a:t>Problem:  </a:t>
            </a:r>
            <a:pPr indent="0" marL="0">
              <a:buNone/>
            </a:pPr>
            <a:r>
              <a:rPr lang="en-US" sz="1350" b="1" dirty="0">
                <a:solidFill>
                  <a:srgbClr val="21295C"/>
                </a:solidFill>
                <a:latin typeface="Calibri" pitchFamily="34" charset="0"/>
                <a:ea typeface="Calibri" pitchFamily="34" charset="-122"/>
                <a:cs typeface="Calibri" pitchFamily="34" charset="-120"/>
              </a:rPr>
              <a:t>A slow reader blocking the router forever</a:t>
            </a:r>
            <a:endParaRPr lang="en-US" sz="1350" dirty="0"/>
          </a:p>
        </p:txBody>
      </p:sp>
      <p:sp>
        <p:nvSpPr>
          <p:cNvPr id="17" name="Text 15"/>
          <p:cNvSpPr/>
          <p:nvPr/>
        </p:nvSpPr>
        <p:spPr>
          <a:xfrm>
            <a:off x="822960" y="4023360"/>
            <a:ext cx="10607040" cy="384048"/>
          </a:xfrm>
          <a:prstGeom prst="rect">
            <a:avLst/>
          </a:prstGeom>
          <a:noFill/>
          <a:ln/>
        </p:spPr>
        <p:txBody>
          <a:bodyPr wrap="square" lIns="0" tIns="0" rIns="0" bIns="0" rtlCol="0" anchor="ctr"/>
          <a:lstStyle/>
          <a:p>
            <a:pPr indent="0" marL="0">
              <a:buNone/>
            </a:pPr>
            <a:r>
              <a:rPr lang="en-US" sz="1250" b="1" dirty="0">
                <a:solidFill>
                  <a:srgbClr val="02C39A"/>
                </a:solidFill>
                <a:latin typeface="Calibri" pitchFamily="34" charset="0"/>
                <a:ea typeface="Calibri" pitchFamily="34" charset="-122"/>
                <a:cs typeface="Calibri" pitchFamily="34" charset="-120"/>
              </a:rPr>
              <a:t>Fix:  </a:t>
            </a:r>
            <a:pPr indent="0" marL="0">
              <a:buNone/>
            </a:pPr>
            <a:r>
              <a:rPr lang="en-US" sz="1250" dirty="0">
                <a:solidFill>
                  <a:srgbClr val="5B6B7B"/>
                </a:solidFill>
                <a:latin typeface="Calibri" pitchFamily="34" charset="0"/>
                <a:ea typeface="Calibri" pitchFamily="34" charset="-122"/>
                <a:cs typeface="Calibri" pitchFamily="34" charset="-120"/>
              </a:rPr>
              <a:t>Built the 30-clock soft-reset counter in the synchronizer so an unread channel resets itself — no permanent deadlock.</a:t>
            </a:r>
            <a:endParaRPr lang="en-US" sz="1250" dirty="0"/>
          </a:p>
        </p:txBody>
      </p:sp>
      <p:sp>
        <p:nvSpPr>
          <p:cNvPr id="18" name="Shape 16"/>
          <p:cNvSpPr/>
          <p:nvPr/>
        </p:nvSpPr>
        <p:spPr>
          <a:xfrm>
            <a:off x="548640" y="4544568"/>
            <a:ext cx="11064240" cy="859536"/>
          </a:xfrm>
          <a:prstGeom prst="roundRect">
            <a:avLst>
              <a:gd name="adj" fmla="val 9574"/>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19" name="Shape 17"/>
          <p:cNvSpPr/>
          <p:nvPr/>
        </p:nvSpPr>
        <p:spPr>
          <a:xfrm>
            <a:off x="548640" y="4544568"/>
            <a:ext cx="128016" cy="859536"/>
          </a:xfrm>
          <a:prstGeom prst="roundRect">
            <a:avLst/>
          </a:prstGeom>
          <a:solidFill>
            <a:srgbClr val="B85042"/>
          </a:solidFill>
          <a:ln/>
        </p:spPr>
      </p:sp>
      <p:sp>
        <p:nvSpPr>
          <p:cNvPr id="20" name="Text 18"/>
          <p:cNvSpPr/>
          <p:nvPr/>
        </p:nvSpPr>
        <p:spPr>
          <a:xfrm>
            <a:off x="822960" y="4636008"/>
            <a:ext cx="10515600" cy="365760"/>
          </a:xfrm>
          <a:prstGeom prst="rect">
            <a:avLst/>
          </a:prstGeom>
          <a:noFill/>
          <a:ln/>
        </p:spPr>
        <p:txBody>
          <a:bodyPr wrap="square" lIns="0" tIns="0" rIns="0" bIns="0" rtlCol="0" anchor="ctr"/>
          <a:lstStyle/>
          <a:p>
            <a:pPr indent="0" marL="0">
              <a:buNone/>
            </a:pPr>
            <a:r>
              <a:rPr lang="en-US" sz="1350" b="1" dirty="0">
                <a:solidFill>
                  <a:srgbClr val="B85042"/>
                </a:solidFill>
                <a:latin typeface="Calibri" pitchFamily="34" charset="0"/>
                <a:ea typeface="Calibri" pitchFamily="34" charset="-122"/>
                <a:cs typeface="Calibri" pitchFamily="34" charset="-120"/>
              </a:rPr>
              <a:t>Problem:  </a:t>
            </a:r>
            <a:pPr indent="0" marL="0">
              <a:buNone/>
            </a:pPr>
            <a:r>
              <a:rPr lang="en-US" sz="1350" b="1" dirty="0">
                <a:solidFill>
                  <a:srgbClr val="21295C"/>
                </a:solidFill>
                <a:latin typeface="Calibri" pitchFamily="34" charset="0"/>
                <a:ea typeface="Calibri" pitchFamily="34" charset="-122"/>
                <a:cs typeface="Calibri" pitchFamily="34" charset="-120"/>
              </a:rPr>
              <a:t>Losing packet boundaries inside the FIFO</a:t>
            </a:r>
            <a:endParaRPr lang="en-US" sz="1350" dirty="0"/>
          </a:p>
        </p:txBody>
      </p:sp>
      <p:sp>
        <p:nvSpPr>
          <p:cNvPr id="21" name="Text 19"/>
          <p:cNvSpPr/>
          <p:nvPr/>
        </p:nvSpPr>
        <p:spPr>
          <a:xfrm>
            <a:off x="822960" y="4974336"/>
            <a:ext cx="10607040" cy="384048"/>
          </a:xfrm>
          <a:prstGeom prst="rect">
            <a:avLst/>
          </a:prstGeom>
          <a:noFill/>
          <a:ln/>
        </p:spPr>
        <p:txBody>
          <a:bodyPr wrap="square" lIns="0" tIns="0" rIns="0" bIns="0" rtlCol="0" anchor="ctr"/>
          <a:lstStyle/>
          <a:p>
            <a:pPr indent="0" marL="0">
              <a:buNone/>
            </a:pPr>
            <a:r>
              <a:rPr lang="en-US" sz="1250" b="1" dirty="0">
                <a:solidFill>
                  <a:srgbClr val="02C39A"/>
                </a:solidFill>
                <a:latin typeface="Calibri" pitchFamily="34" charset="0"/>
                <a:ea typeface="Calibri" pitchFamily="34" charset="-122"/>
                <a:cs typeface="Calibri" pitchFamily="34" charset="-120"/>
              </a:rPr>
              <a:t>Fix:  </a:t>
            </a:r>
            <a:pPr indent="0" marL="0">
              <a:buNone/>
            </a:pPr>
            <a:r>
              <a:rPr lang="en-US" sz="1250" dirty="0">
                <a:solidFill>
                  <a:srgbClr val="5B6B7B"/>
                </a:solidFill>
                <a:latin typeface="Calibri" pitchFamily="34" charset="0"/>
                <a:ea typeface="Calibri" pitchFamily="34" charset="-122"/>
                <a:cs typeface="Calibri" pitchFamily="34" charset="-120"/>
              </a:rPr>
              <a:t>Widened the FIFO to 9 bits and tagged the header byte with lfd_state so length is recoverable on read-out.</a:t>
            </a:r>
            <a:endParaRPr lang="en-US" sz="1250" dirty="0"/>
          </a:p>
        </p:txBody>
      </p:sp>
      <p:sp>
        <p:nvSpPr>
          <p:cNvPr id="22" name="Shape 20"/>
          <p:cNvSpPr/>
          <p:nvPr/>
        </p:nvSpPr>
        <p:spPr>
          <a:xfrm>
            <a:off x="548640" y="5495544"/>
            <a:ext cx="11064240" cy="859536"/>
          </a:xfrm>
          <a:prstGeom prst="roundRect">
            <a:avLst>
              <a:gd name="adj" fmla="val 9574"/>
            </a:avLst>
          </a:prstGeom>
          <a:solidFill>
            <a:srgbClr val="FFFFFF"/>
          </a:solidFill>
          <a:ln w="12700">
            <a:solidFill>
              <a:srgbClr val="E1E8EE"/>
            </a:solidFill>
            <a:prstDash val="solid"/>
          </a:ln>
          <a:effectLst>
            <a:outerShdw sx="100000" sy="100000" kx="0" ky="0" algn="bl" rotWithShape="0" blurRad="101600" dist="38100" dir="5400000">
              <a:srgbClr val="9AA8B5">
                <a:alpha val="35000"/>
              </a:srgbClr>
            </a:outerShdw>
          </a:effectLst>
        </p:spPr>
      </p:sp>
      <p:sp>
        <p:nvSpPr>
          <p:cNvPr id="23" name="Shape 21"/>
          <p:cNvSpPr/>
          <p:nvPr/>
        </p:nvSpPr>
        <p:spPr>
          <a:xfrm>
            <a:off x="548640" y="5495544"/>
            <a:ext cx="128016" cy="859536"/>
          </a:xfrm>
          <a:prstGeom prst="roundRect">
            <a:avLst/>
          </a:prstGeom>
          <a:solidFill>
            <a:srgbClr val="B85042"/>
          </a:solidFill>
          <a:ln/>
        </p:spPr>
      </p:sp>
      <p:sp>
        <p:nvSpPr>
          <p:cNvPr id="24" name="Text 22"/>
          <p:cNvSpPr/>
          <p:nvPr/>
        </p:nvSpPr>
        <p:spPr>
          <a:xfrm>
            <a:off x="822960" y="5586984"/>
            <a:ext cx="10515600" cy="365760"/>
          </a:xfrm>
          <a:prstGeom prst="rect">
            <a:avLst/>
          </a:prstGeom>
          <a:noFill/>
          <a:ln/>
        </p:spPr>
        <p:txBody>
          <a:bodyPr wrap="square" lIns="0" tIns="0" rIns="0" bIns="0" rtlCol="0" anchor="ctr"/>
          <a:lstStyle/>
          <a:p>
            <a:pPr indent="0" marL="0">
              <a:buNone/>
            </a:pPr>
            <a:r>
              <a:rPr lang="en-US" sz="1350" b="1" dirty="0">
                <a:solidFill>
                  <a:srgbClr val="B85042"/>
                </a:solidFill>
                <a:latin typeface="Calibri" pitchFamily="34" charset="0"/>
                <a:ea typeface="Calibri" pitchFamily="34" charset="-122"/>
                <a:cs typeface="Calibri" pitchFamily="34" charset="-120"/>
              </a:rPr>
              <a:t>Problem:  </a:t>
            </a:r>
            <a:pPr indent="0" marL="0">
              <a:buNone/>
            </a:pPr>
            <a:r>
              <a:rPr lang="en-US" sz="1350" b="1" dirty="0">
                <a:solidFill>
                  <a:srgbClr val="21295C"/>
                </a:solidFill>
                <a:latin typeface="Calibri" pitchFamily="34" charset="0"/>
                <a:ea typeface="Calibri" pitchFamily="34" charset="-122"/>
                <a:cs typeface="Calibri" pitchFamily="34" charset="-120"/>
              </a:rPr>
              <a:t>Accidental latches in next-state logic</a:t>
            </a:r>
            <a:endParaRPr lang="en-US" sz="1350" dirty="0"/>
          </a:p>
        </p:txBody>
      </p:sp>
      <p:sp>
        <p:nvSpPr>
          <p:cNvPr id="25" name="Text 23"/>
          <p:cNvSpPr/>
          <p:nvPr/>
        </p:nvSpPr>
        <p:spPr>
          <a:xfrm>
            <a:off x="822960" y="5925312"/>
            <a:ext cx="10607040" cy="384048"/>
          </a:xfrm>
          <a:prstGeom prst="rect">
            <a:avLst/>
          </a:prstGeom>
          <a:noFill/>
          <a:ln/>
        </p:spPr>
        <p:txBody>
          <a:bodyPr wrap="square" lIns="0" tIns="0" rIns="0" bIns="0" rtlCol="0" anchor="ctr"/>
          <a:lstStyle/>
          <a:p>
            <a:pPr indent="0" marL="0">
              <a:buNone/>
            </a:pPr>
            <a:r>
              <a:rPr lang="en-US" sz="1250" b="1" dirty="0">
                <a:solidFill>
                  <a:srgbClr val="02C39A"/>
                </a:solidFill>
                <a:latin typeface="Calibri" pitchFamily="34" charset="0"/>
                <a:ea typeface="Calibri" pitchFamily="34" charset="-122"/>
                <a:cs typeface="Calibri" pitchFamily="34" charset="-120"/>
              </a:rPr>
              <a:t>Fix:  </a:t>
            </a:r>
            <a:pPr indent="0" marL="0">
              <a:buNone/>
            </a:pPr>
            <a:r>
              <a:rPr lang="en-US" sz="1250" dirty="0">
                <a:solidFill>
                  <a:srgbClr val="5B6B7B"/>
                </a:solidFill>
                <a:latin typeface="Calibri" pitchFamily="34" charset="0"/>
                <a:ea typeface="Calibri" pitchFamily="34" charset="-122"/>
                <a:cs typeface="Calibri" pitchFamily="34" charset="-120"/>
              </a:rPr>
              <a:t>Used a default assignment + always @(*) with a full case so every branch is defined — clean synthesis, no latches.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645920" y="4023360"/>
            <a:ext cx="5029200" cy="5029200"/>
          </a:xfrm>
          <a:prstGeom prst="ellipse">
            <a:avLst/>
          </a:prstGeom>
          <a:solidFill>
            <a:srgbClr val="065A82">
              <a:alpha val="45000"/>
            </a:srgbClr>
          </a:solidFill>
          <a:ln/>
        </p:spPr>
      </p:sp>
      <p:sp>
        <p:nvSpPr>
          <p:cNvPr id="3" name="Shape 1"/>
          <p:cNvSpPr/>
          <p:nvPr/>
        </p:nvSpPr>
        <p:spPr>
          <a:xfrm>
            <a:off x="9875520" y="-1828800"/>
            <a:ext cx="5029200" cy="5029200"/>
          </a:xfrm>
          <a:prstGeom prst="ellipse">
            <a:avLst/>
          </a:prstGeom>
          <a:solidFill>
            <a:srgbClr val="1C7293">
              <a:alpha val="42000"/>
            </a:srgbClr>
          </a:solidFill>
          <a:ln/>
        </p:spPr>
      </p:sp>
      <p:sp>
        <p:nvSpPr>
          <p:cNvPr id="4" name="Text 2"/>
          <p:cNvSpPr/>
          <p:nvPr/>
        </p:nvSpPr>
        <p:spPr>
          <a:xfrm>
            <a:off x="822960" y="1005840"/>
            <a:ext cx="7315200" cy="365760"/>
          </a:xfrm>
          <a:prstGeom prst="rect">
            <a:avLst/>
          </a:prstGeom>
          <a:noFill/>
          <a:ln/>
        </p:spPr>
        <p:txBody>
          <a:bodyPr wrap="square" lIns="0" tIns="0" rIns="0" bIns="0" rtlCol="0" anchor="ctr"/>
          <a:lstStyle/>
          <a:p>
            <a:pPr indent="0" marL="0">
              <a:buNone/>
            </a:pPr>
            <a:r>
              <a:rPr lang="en-US" sz="1400" b="1" spc="300" kern="0" dirty="0">
                <a:solidFill>
                  <a:srgbClr val="02C39A"/>
                </a:solidFill>
                <a:latin typeface="Calibri" pitchFamily="34" charset="0"/>
                <a:ea typeface="Calibri" pitchFamily="34" charset="-122"/>
                <a:cs typeface="Calibri" pitchFamily="34" charset="-120"/>
              </a:rPr>
              <a:t>IN ONE BREATH</a:t>
            </a:r>
            <a:endParaRPr lang="en-US" sz="1400" dirty="0"/>
          </a:p>
        </p:txBody>
      </p:sp>
      <p:sp>
        <p:nvSpPr>
          <p:cNvPr id="5" name="Text 3"/>
          <p:cNvSpPr/>
          <p:nvPr/>
        </p:nvSpPr>
        <p:spPr>
          <a:xfrm>
            <a:off x="777240" y="1371600"/>
            <a:ext cx="10515600" cy="128016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What to say when they ask</a:t>
            </a:r>
            <a:endParaRPr lang="en-US" sz="3000" dirty="0"/>
          </a:p>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“Tell me about your project”</a:t>
            </a:r>
            <a:endParaRPr lang="en-US" sz="3000" dirty="0"/>
          </a:p>
        </p:txBody>
      </p:sp>
      <p:sp>
        <p:nvSpPr>
          <p:cNvPr id="6" name="Text 4"/>
          <p:cNvSpPr/>
          <p:nvPr/>
        </p:nvSpPr>
        <p:spPr>
          <a:xfrm>
            <a:off x="822960" y="2880360"/>
            <a:ext cx="10424160" cy="2377440"/>
          </a:xfrm>
          <a:prstGeom prst="rect">
            <a:avLst/>
          </a:prstGeom>
          <a:noFill/>
          <a:ln/>
        </p:spPr>
        <p:txBody>
          <a:bodyPr wrap="square" lIns="0" tIns="0" rIns="0" bIns="0" rtlCol="0" anchor="ctr"/>
          <a:lstStyle/>
          <a:p>
            <a:pPr indent="0" marL="0">
              <a:lnSpc>
                <a:spcPct val="125000"/>
              </a:lnSpc>
              <a:buNone/>
            </a:pPr>
            <a:r>
              <a:rPr lang="en-US" sz="1700" i="1" dirty="0">
                <a:solidFill>
                  <a:srgbClr val="D7E1EC"/>
                </a:solidFill>
                <a:latin typeface="Calibri" pitchFamily="34" charset="0"/>
                <a:ea typeface="Calibri" pitchFamily="34" charset="-122"/>
                <a:cs typeface="Calibri" pitchFamily="34" charset="-120"/>
              </a:rPr>
              <a:t>“I designed and verified a synchronous 1×3 packet router in Verilog. It reads a byte-stream packet, decodes the destination from the header, buffers the payload in one of three 16×9 FIFOs, and validates it with a parity check. A single 8-state FSM drives all control — including graceful handling of FIFO-full, busy channels, and a soft-reset timeout so it never deadlocks. I verified each block with its own scenario-based testbench and the full router end-to-end using waveforms.”</a:t>
            </a:r>
            <a:endParaRPr lang="en-US" sz="1700" dirty="0"/>
          </a:p>
        </p:txBody>
      </p:sp>
      <p:sp>
        <p:nvSpPr>
          <p:cNvPr id="7" name="Shape 5"/>
          <p:cNvSpPr/>
          <p:nvPr/>
        </p:nvSpPr>
        <p:spPr>
          <a:xfrm>
            <a:off x="822960" y="5669280"/>
            <a:ext cx="1760220" cy="457200"/>
          </a:xfrm>
          <a:prstGeom prst="roundRect">
            <a:avLst>
              <a:gd name="adj" fmla="val 50000"/>
            </a:avLst>
          </a:prstGeom>
          <a:solidFill>
            <a:srgbClr val="FFFFFF">
              <a:alpha val="12000"/>
            </a:srgbClr>
          </a:solidFill>
          <a:ln w="12700">
            <a:solidFill>
              <a:srgbClr val="02C39A"/>
            </a:solidFill>
            <a:prstDash val="solid"/>
          </a:ln>
        </p:spPr>
      </p:sp>
      <p:sp>
        <p:nvSpPr>
          <p:cNvPr id="8" name="Text 6"/>
          <p:cNvSpPr/>
          <p:nvPr/>
        </p:nvSpPr>
        <p:spPr>
          <a:xfrm>
            <a:off x="822960" y="5669280"/>
            <a:ext cx="1760220" cy="457200"/>
          </a:xfrm>
          <a:prstGeom prst="rect">
            <a:avLst/>
          </a:prstGeom>
          <a:noFill/>
          <a:ln/>
        </p:spPr>
        <p:txBody>
          <a:bodyPr wrap="square" lIns="0" tIns="0" rIns="0" bIns="0" rtlCol="0" anchor="ctr"/>
          <a:lstStyle/>
          <a:p>
            <a:pPr algn="ctr" indent="0" marL="0">
              <a:buNone/>
            </a:pPr>
            <a:r>
              <a:rPr lang="en-US" sz="1200" b="1" dirty="0">
                <a:solidFill>
                  <a:srgbClr val="E8F6F1"/>
                </a:solidFill>
                <a:latin typeface="Calibri" pitchFamily="34" charset="0"/>
                <a:ea typeface="Calibri" pitchFamily="34" charset="-122"/>
                <a:cs typeface="Calibri" pitchFamily="34" charset="-120"/>
              </a:rPr>
              <a:t>Synchronous RTL</a:t>
            </a:r>
            <a:endParaRPr lang="en-US" sz="1200" dirty="0"/>
          </a:p>
        </p:txBody>
      </p:sp>
      <p:sp>
        <p:nvSpPr>
          <p:cNvPr id="9" name="Shape 7"/>
          <p:cNvSpPr/>
          <p:nvPr/>
        </p:nvSpPr>
        <p:spPr>
          <a:xfrm>
            <a:off x="2766060" y="5669280"/>
            <a:ext cx="1376172" cy="457200"/>
          </a:xfrm>
          <a:prstGeom prst="roundRect">
            <a:avLst>
              <a:gd name="adj" fmla="val 50000"/>
            </a:avLst>
          </a:prstGeom>
          <a:solidFill>
            <a:srgbClr val="FFFFFF">
              <a:alpha val="12000"/>
            </a:srgbClr>
          </a:solidFill>
          <a:ln w="12700">
            <a:solidFill>
              <a:srgbClr val="02C39A"/>
            </a:solidFill>
            <a:prstDash val="solid"/>
          </a:ln>
        </p:spPr>
      </p:sp>
      <p:sp>
        <p:nvSpPr>
          <p:cNvPr id="10" name="Text 8"/>
          <p:cNvSpPr/>
          <p:nvPr/>
        </p:nvSpPr>
        <p:spPr>
          <a:xfrm>
            <a:off x="2766060" y="5669280"/>
            <a:ext cx="1376172" cy="457200"/>
          </a:xfrm>
          <a:prstGeom prst="rect">
            <a:avLst/>
          </a:prstGeom>
          <a:noFill/>
          <a:ln/>
        </p:spPr>
        <p:txBody>
          <a:bodyPr wrap="square" lIns="0" tIns="0" rIns="0" bIns="0" rtlCol="0" anchor="ctr"/>
          <a:lstStyle/>
          <a:p>
            <a:pPr algn="ctr" indent="0" marL="0">
              <a:buNone/>
            </a:pPr>
            <a:r>
              <a:rPr lang="en-US" sz="1200" b="1" dirty="0">
                <a:solidFill>
                  <a:srgbClr val="E8F6F1"/>
                </a:solidFill>
                <a:latin typeface="Calibri" pitchFamily="34" charset="0"/>
                <a:ea typeface="Calibri" pitchFamily="34" charset="-122"/>
                <a:cs typeface="Calibri" pitchFamily="34" charset="-120"/>
              </a:rPr>
              <a:t>FSM control</a:t>
            </a:r>
            <a:endParaRPr lang="en-US" sz="1200" dirty="0"/>
          </a:p>
        </p:txBody>
      </p:sp>
      <p:sp>
        <p:nvSpPr>
          <p:cNvPr id="11" name="Shape 9"/>
          <p:cNvSpPr/>
          <p:nvPr/>
        </p:nvSpPr>
        <p:spPr>
          <a:xfrm>
            <a:off x="4325112" y="5669280"/>
            <a:ext cx="1664208" cy="457200"/>
          </a:xfrm>
          <a:prstGeom prst="roundRect">
            <a:avLst>
              <a:gd name="adj" fmla="val 50000"/>
            </a:avLst>
          </a:prstGeom>
          <a:solidFill>
            <a:srgbClr val="FFFFFF">
              <a:alpha val="12000"/>
            </a:srgbClr>
          </a:solidFill>
          <a:ln w="12700">
            <a:solidFill>
              <a:srgbClr val="02C39A"/>
            </a:solidFill>
            <a:prstDash val="solid"/>
          </a:ln>
        </p:spPr>
      </p:sp>
      <p:sp>
        <p:nvSpPr>
          <p:cNvPr id="12" name="Text 10"/>
          <p:cNvSpPr/>
          <p:nvPr/>
        </p:nvSpPr>
        <p:spPr>
          <a:xfrm>
            <a:off x="4325112" y="5669280"/>
            <a:ext cx="1664208" cy="457200"/>
          </a:xfrm>
          <a:prstGeom prst="rect">
            <a:avLst/>
          </a:prstGeom>
          <a:noFill/>
          <a:ln/>
        </p:spPr>
        <p:txBody>
          <a:bodyPr wrap="square" lIns="0" tIns="0" rIns="0" bIns="0" rtlCol="0" anchor="ctr"/>
          <a:lstStyle/>
          <a:p>
            <a:pPr algn="ctr" indent="0" marL="0">
              <a:buNone/>
            </a:pPr>
            <a:r>
              <a:rPr lang="en-US" sz="1200" b="1" dirty="0">
                <a:solidFill>
                  <a:srgbClr val="E8F6F1"/>
                </a:solidFill>
                <a:latin typeface="Calibri" pitchFamily="34" charset="0"/>
                <a:ea typeface="Calibri" pitchFamily="34" charset="-122"/>
                <a:cs typeface="Calibri" pitchFamily="34" charset="-120"/>
              </a:rPr>
              <a:t>FIFO buffering</a:t>
            </a:r>
            <a:endParaRPr lang="en-US" sz="1200" dirty="0"/>
          </a:p>
        </p:txBody>
      </p:sp>
      <p:sp>
        <p:nvSpPr>
          <p:cNvPr id="13" name="Shape 11"/>
          <p:cNvSpPr/>
          <p:nvPr/>
        </p:nvSpPr>
        <p:spPr>
          <a:xfrm>
            <a:off x="6172200" y="5669280"/>
            <a:ext cx="1472184" cy="457200"/>
          </a:xfrm>
          <a:prstGeom prst="roundRect">
            <a:avLst>
              <a:gd name="adj" fmla="val 50000"/>
            </a:avLst>
          </a:prstGeom>
          <a:solidFill>
            <a:srgbClr val="FFFFFF">
              <a:alpha val="12000"/>
            </a:srgbClr>
          </a:solidFill>
          <a:ln w="12700">
            <a:solidFill>
              <a:srgbClr val="02C39A"/>
            </a:solidFill>
            <a:prstDash val="solid"/>
          </a:ln>
        </p:spPr>
      </p:sp>
      <p:sp>
        <p:nvSpPr>
          <p:cNvPr id="14" name="Text 12"/>
          <p:cNvSpPr/>
          <p:nvPr/>
        </p:nvSpPr>
        <p:spPr>
          <a:xfrm>
            <a:off x="6172200" y="5669280"/>
            <a:ext cx="1472184" cy="457200"/>
          </a:xfrm>
          <a:prstGeom prst="rect">
            <a:avLst/>
          </a:prstGeom>
          <a:noFill/>
          <a:ln/>
        </p:spPr>
        <p:txBody>
          <a:bodyPr wrap="square" lIns="0" tIns="0" rIns="0" bIns="0" rtlCol="0" anchor="ctr"/>
          <a:lstStyle/>
          <a:p>
            <a:pPr algn="ctr" indent="0" marL="0">
              <a:buNone/>
            </a:pPr>
            <a:r>
              <a:rPr lang="en-US" sz="1200" b="1" dirty="0">
                <a:solidFill>
                  <a:srgbClr val="E8F6F1"/>
                </a:solidFill>
                <a:latin typeface="Calibri" pitchFamily="34" charset="0"/>
                <a:ea typeface="Calibri" pitchFamily="34" charset="-122"/>
                <a:cs typeface="Calibri" pitchFamily="34" charset="-120"/>
              </a:rPr>
              <a:t>Parity check</a:t>
            </a:r>
            <a:endParaRPr lang="en-US" sz="1200" dirty="0"/>
          </a:p>
        </p:txBody>
      </p:sp>
      <p:sp>
        <p:nvSpPr>
          <p:cNvPr id="15" name="Shape 13"/>
          <p:cNvSpPr/>
          <p:nvPr/>
        </p:nvSpPr>
        <p:spPr>
          <a:xfrm>
            <a:off x="7827264" y="5669280"/>
            <a:ext cx="2240280" cy="457200"/>
          </a:xfrm>
          <a:prstGeom prst="roundRect">
            <a:avLst>
              <a:gd name="adj" fmla="val 50000"/>
            </a:avLst>
          </a:prstGeom>
          <a:solidFill>
            <a:srgbClr val="FFFFFF">
              <a:alpha val="12000"/>
            </a:srgbClr>
          </a:solidFill>
          <a:ln w="12700">
            <a:solidFill>
              <a:srgbClr val="02C39A"/>
            </a:solidFill>
            <a:prstDash val="solid"/>
          </a:ln>
        </p:spPr>
      </p:sp>
      <p:sp>
        <p:nvSpPr>
          <p:cNvPr id="16" name="Text 14"/>
          <p:cNvSpPr/>
          <p:nvPr/>
        </p:nvSpPr>
        <p:spPr>
          <a:xfrm>
            <a:off x="7827264" y="5669280"/>
            <a:ext cx="2240280" cy="457200"/>
          </a:xfrm>
          <a:prstGeom prst="rect">
            <a:avLst/>
          </a:prstGeom>
          <a:noFill/>
          <a:ln/>
        </p:spPr>
        <p:txBody>
          <a:bodyPr wrap="square" lIns="0" tIns="0" rIns="0" bIns="0" rtlCol="0" anchor="ctr"/>
          <a:lstStyle/>
          <a:p>
            <a:pPr algn="ctr" indent="0" marL="0">
              <a:buNone/>
            </a:pPr>
            <a:r>
              <a:rPr lang="en-US" sz="1200" b="1" dirty="0">
                <a:solidFill>
                  <a:srgbClr val="E8F6F1"/>
                </a:solidFill>
                <a:latin typeface="Calibri" pitchFamily="34" charset="0"/>
                <a:ea typeface="Calibri" pitchFamily="34" charset="-122"/>
                <a:cs typeface="Calibri" pitchFamily="34" charset="-120"/>
              </a:rPr>
              <a:t>Self-healing timeout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2026-08-06T09:09:04Z</dcterms:created>
  <dcterms:modified xsi:type="dcterms:W3CDTF">2026-08-06T09:09:04Z</dcterms:modified>
</cp:coreProperties>
</file>